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mo" panose="020B0604020202020204" charset="0"/>
      <p:regular r:id="rId14"/>
    </p:embeddedFont>
    <p:embeddedFont>
      <p:font typeface="Fraunces Bold" panose="020B0604020202020204" charset="0"/>
      <p:regular r:id="rId15"/>
    </p:embeddedFont>
    <p:embeddedFont>
      <p:font typeface="Fraunces Light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16.09.2025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010401" y="466581"/>
            <a:ext cx="11277600" cy="3494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dirty="0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FHIR – based Dual Coding Microservice for NAMASTE &amp; ICD-11 Integration into EMR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44814" y="4131303"/>
            <a:ext cx="6477000" cy="1069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437"/>
              </a:lnSpc>
            </a:pPr>
            <a:r>
              <a:rPr lang="en-US" sz="275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"</a:t>
            </a:r>
            <a:r>
              <a:rPr lang="en-US" sz="2750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Bridging Traditional &amp; Modern Healthcare in India's Digital Health Ecosystem</a:t>
            </a:r>
            <a:r>
              <a:rPr lang="en-US" sz="275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"</a:t>
            </a:r>
          </a:p>
        </p:txBody>
      </p:sp>
      <p:sp>
        <p:nvSpPr>
          <p:cNvPr id="33" name="CustomShape 8">
            <a:extLst>
              <a:ext uri="{FF2B5EF4-FFF2-40B4-BE49-F238E27FC236}">
                <a16:creationId xmlns:a16="http://schemas.microsoft.com/office/drawing/2014/main" id="{42F756BD-C9DA-66D7-B13D-D8896849038A}"/>
              </a:ext>
            </a:extLst>
          </p:cNvPr>
          <p:cNvSpPr/>
          <p:nvPr/>
        </p:nvSpPr>
        <p:spPr>
          <a:xfrm>
            <a:off x="12039600" y="5200955"/>
            <a:ext cx="5860800" cy="93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ts val="6432"/>
              </a:lnSpc>
            </a:pPr>
            <a:r>
              <a:rPr lang="en-IN" sz="5590" b="1" strike="noStrike" spc="-1" dirty="0">
                <a:solidFill>
                  <a:schemeClr val="accent3"/>
                </a:solidFill>
                <a:latin typeface="Times New Roman"/>
                <a:ea typeface="DejaVu Sans"/>
              </a:rPr>
              <a:t>Team  Members</a:t>
            </a:r>
            <a:endParaRPr lang="en-IN" sz="5590" b="0" strike="noStrike" spc="-1" dirty="0">
              <a:solidFill>
                <a:schemeClr val="accent3"/>
              </a:solidFill>
              <a:latin typeface="Arial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CFBC630E-3841-34F3-FE4E-BB785F8D3E91}"/>
              </a:ext>
            </a:extLst>
          </p:cNvPr>
          <p:cNvSpPr txBox="1"/>
          <p:nvPr/>
        </p:nvSpPr>
        <p:spPr>
          <a:xfrm>
            <a:off x="12039599" y="6188656"/>
            <a:ext cx="4343400" cy="3631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 ARIF UL ISLAM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ADTU/0/2023-27/BTCS/167</a:t>
            </a:r>
            <a:endParaRPr lang="en-US" sz="1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 SAMIUR RAHMAN TANIM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ADTU/0/2023-27/BTCS/212</a:t>
            </a:r>
          </a:p>
          <a:p>
            <a:endParaRPr lang="en-IN" sz="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ATIKUR RAHMAN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ADTU/0/2023-27/BTCS/191</a:t>
            </a:r>
          </a:p>
          <a:p>
            <a:endParaRPr lang="en-IN" sz="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FARHAN MASUD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ADTU/0/2023-27/BTCS/201</a:t>
            </a:r>
          </a:p>
          <a:p>
            <a:endParaRPr lang="en-IN" sz="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M ZAFOR ABBASI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ADTU/0/2023-27/BTCS/173</a:t>
            </a:r>
          </a:p>
          <a:p>
            <a:endParaRPr lang="en-US" sz="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SOUDAMONI PANDIT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ADTU/0/2023-27/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BTCS/125 </a:t>
            </a:r>
            <a:endParaRPr lang="en-IN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418779"/>
            <a:ext cx="7088237" cy="90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Background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7" y="2805112"/>
            <a:ext cx="391715" cy="415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405449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01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3334642"/>
            <a:ext cx="8009930" cy="38100"/>
            <a:chOff x="0" y="0"/>
            <a:chExt cx="10679907" cy="50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3543003"/>
            <a:ext cx="800993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India's digital health push → Unified &amp; patient-centric care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4503687"/>
            <a:ext cx="8009930" cy="87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The nation is moving towards comprehensive digital healthcare transformation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85684" y="2805112"/>
            <a:ext cx="391715" cy="415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405449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02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85685" y="3334642"/>
            <a:ext cx="8010079" cy="38100"/>
            <a:chOff x="0" y="0"/>
            <a:chExt cx="10680105" cy="50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80065" cy="50800"/>
            </a:xfrm>
            <a:custGeom>
              <a:avLst/>
              <a:gdLst/>
              <a:ahLst/>
              <a:cxnLst/>
              <a:rect l="l" t="t" r="r" b="b"/>
              <a:pathLst>
                <a:path w="10680065" h="50800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285685" y="3543003"/>
            <a:ext cx="801007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AYUSH systems widely used, but documentation not interoperable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85685" y="4503687"/>
            <a:ext cx="8010079" cy="88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Traditional medicine systems lack standardized digital integration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238" y="5926040"/>
            <a:ext cx="391714" cy="415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405449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03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92238" y="6455569"/>
            <a:ext cx="8009930" cy="38100"/>
            <a:chOff x="0" y="0"/>
            <a:chExt cx="10679907" cy="50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992238" y="6663929"/>
            <a:ext cx="800993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NAMASTE: national coding system for Ayurveda, Siddha, Unani, Homeopathy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2238" y="7624614"/>
            <a:ext cx="8009930" cy="88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India's dedicated coding framework for traditional medicine practices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85685" y="5926039"/>
            <a:ext cx="391714" cy="415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405449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04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85685" y="6455569"/>
            <a:ext cx="8010079" cy="38100"/>
            <a:chOff x="0" y="0"/>
            <a:chExt cx="10680105" cy="50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680065" cy="50800"/>
            </a:xfrm>
            <a:custGeom>
              <a:avLst/>
              <a:gdLst/>
              <a:ahLst/>
              <a:cxnLst/>
              <a:rect l="l" t="t" r="r" b="b"/>
              <a:pathLst>
                <a:path w="10680065" h="50800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9285685" y="6663929"/>
            <a:ext cx="526390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ICD-11: WHO global standard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85685" y="7181701"/>
            <a:ext cx="8010079" cy="87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International Classification of Diseases for worldwide healthcare compatibility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292995"/>
            <a:ext cx="7088237" cy="90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The Problem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887689"/>
            <a:ext cx="4252912" cy="55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>
                <a:solidFill>
                  <a:srgbClr val="438951"/>
                </a:solidFill>
                <a:latin typeface="Fraunces Bold"/>
                <a:ea typeface="Fraunces Bold"/>
                <a:cs typeface="Fraunces Bold"/>
                <a:sym typeface="Fraunces Bold"/>
              </a:rPr>
              <a:t>Core Issues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617095"/>
            <a:ext cx="6106269" cy="892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800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NAMASTE codes not globally interoperable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623471"/>
            <a:ext cx="6106269" cy="892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800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ICD-11 lacks direct alignment with NAMASTE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99785" y="3887689"/>
            <a:ext cx="4252912" cy="55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>
                <a:solidFill>
                  <a:srgbClr val="4A644E"/>
                </a:solidFill>
                <a:latin typeface="Fraunces Bold"/>
                <a:ea typeface="Fraunces Bold"/>
                <a:cs typeface="Fraunces Bold"/>
                <a:sym typeface="Fraunces Bold"/>
              </a:rPr>
              <a:t>Consequences: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780735" y="4738241"/>
            <a:ext cx="4648944" cy="1567160"/>
            <a:chOff x="0" y="0"/>
            <a:chExt cx="6198592" cy="2089547"/>
          </a:xfrm>
        </p:grpSpPr>
        <p:sp>
          <p:nvSpPr>
            <p:cNvPr id="12" name="Freeform 12"/>
            <p:cNvSpPr/>
            <p:nvPr/>
          </p:nvSpPr>
          <p:spPr>
            <a:xfrm>
              <a:off x="25400" y="25400"/>
              <a:ext cx="6147689" cy="2038731"/>
            </a:xfrm>
            <a:custGeom>
              <a:avLst/>
              <a:gdLst/>
              <a:ahLst/>
              <a:cxnLst/>
              <a:rect l="l" t="t" r="r" b="b"/>
              <a:pathLst>
                <a:path w="6147689" h="2038731">
                  <a:moveTo>
                    <a:pt x="0" y="340233"/>
                  </a:moveTo>
                  <a:cubicBezTo>
                    <a:pt x="0" y="152273"/>
                    <a:pt x="154813" y="0"/>
                    <a:pt x="345821" y="0"/>
                  </a:cubicBezTo>
                  <a:lnTo>
                    <a:pt x="5801868" y="0"/>
                  </a:lnTo>
                  <a:cubicBezTo>
                    <a:pt x="5992876" y="0"/>
                    <a:pt x="6147689" y="152273"/>
                    <a:pt x="6147689" y="340233"/>
                  </a:cubicBezTo>
                  <a:lnTo>
                    <a:pt x="6147689" y="1698498"/>
                  </a:lnTo>
                  <a:cubicBezTo>
                    <a:pt x="6147689" y="1886458"/>
                    <a:pt x="5992876" y="2038731"/>
                    <a:pt x="5801868" y="2038731"/>
                  </a:cubicBezTo>
                  <a:lnTo>
                    <a:pt x="345821" y="2038731"/>
                  </a:lnTo>
                  <a:cubicBezTo>
                    <a:pt x="154813" y="2038731"/>
                    <a:pt x="0" y="1886458"/>
                    <a:pt x="0" y="1698498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6198489" cy="2089531"/>
            </a:xfrm>
            <a:custGeom>
              <a:avLst/>
              <a:gdLst/>
              <a:ahLst/>
              <a:cxnLst/>
              <a:rect l="l" t="t" r="r" b="b"/>
              <a:pathLst>
                <a:path w="6198489" h="2089531">
                  <a:moveTo>
                    <a:pt x="0" y="365633"/>
                  </a:moveTo>
                  <a:cubicBezTo>
                    <a:pt x="0" y="163322"/>
                    <a:pt x="166624" y="0"/>
                    <a:pt x="371221" y="0"/>
                  </a:cubicBezTo>
                  <a:lnTo>
                    <a:pt x="5827268" y="0"/>
                  </a:lnTo>
                  <a:lnTo>
                    <a:pt x="5827268" y="25400"/>
                  </a:lnTo>
                  <a:lnTo>
                    <a:pt x="5827268" y="0"/>
                  </a:lnTo>
                  <a:cubicBezTo>
                    <a:pt x="6031865" y="0"/>
                    <a:pt x="6198489" y="163322"/>
                    <a:pt x="6198489" y="365633"/>
                  </a:cubicBezTo>
                  <a:lnTo>
                    <a:pt x="6173089" y="365633"/>
                  </a:lnTo>
                  <a:lnTo>
                    <a:pt x="6198489" y="365633"/>
                  </a:lnTo>
                  <a:lnTo>
                    <a:pt x="6198489" y="1723898"/>
                  </a:lnTo>
                  <a:lnTo>
                    <a:pt x="6173089" y="1723898"/>
                  </a:lnTo>
                  <a:lnTo>
                    <a:pt x="6198489" y="1723898"/>
                  </a:lnTo>
                  <a:cubicBezTo>
                    <a:pt x="6198489" y="1926209"/>
                    <a:pt x="6031865" y="2089531"/>
                    <a:pt x="5827268" y="2089531"/>
                  </a:cubicBezTo>
                  <a:lnTo>
                    <a:pt x="5827268" y="2064131"/>
                  </a:lnTo>
                  <a:lnTo>
                    <a:pt x="5827268" y="2089531"/>
                  </a:lnTo>
                  <a:lnTo>
                    <a:pt x="371221" y="2089531"/>
                  </a:lnTo>
                  <a:lnTo>
                    <a:pt x="371221" y="2064131"/>
                  </a:lnTo>
                  <a:lnTo>
                    <a:pt x="371221" y="2089531"/>
                  </a:lnTo>
                  <a:cubicBezTo>
                    <a:pt x="166624" y="2089531"/>
                    <a:pt x="0" y="1926209"/>
                    <a:pt x="0" y="1723898"/>
                  </a:cubicBezTo>
                  <a:lnTo>
                    <a:pt x="0" y="365633"/>
                  </a:lnTo>
                  <a:lnTo>
                    <a:pt x="25400" y="365633"/>
                  </a:lnTo>
                  <a:lnTo>
                    <a:pt x="0" y="365633"/>
                  </a:lnTo>
                  <a:moveTo>
                    <a:pt x="50800" y="365633"/>
                  </a:moveTo>
                  <a:lnTo>
                    <a:pt x="50800" y="1723898"/>
                  </a:lnTo>
                  <a:lnTo>
                    <a:pt x="25400" y="1723898"/>
                  </a:lnTo>
                  <a:lnTo>
                    <a:pt x="50800" y="1723898"/>
                  </a:lnTo>
                  <a:cubicBezTo>
                    <a:pt x="50800" y="1897380"/>
                    <a:pt x="193929" y="2038731"/>
                    <a:pt x="371221" y="2038731"/>
                  </a:cubicBezTo>
                  <a:lnTo>
                    <a:pt x="5827268" y="2038731"/>
                  </a:lnTo>
                  <a:cubicBezTo>
                    <a:pt x="6004687" y="2038731"/>
                    <a:pt x="6147689" y="1897380"/>
                    <a:pt x="6147689" y="1723898"/>
                  </a:cubicBezTo>
                  <a:lnTo>
                    <a:pt x="6147689" y="365633"/>
                  </a:lnTo>
                  <a:cubicBezTo>
                    <a:pt x="6147816" y="192151"/>
                    <a:pt x="6004687" y="50800"/>
                    <a:pt x="5827268" y="50800"/>
                  </a:cubicBezTo>
                  <a:lnTo>
                    <a:pt x="371221" y="50800"/>
                  </a:lnTo>
                  <a:lnTo>
                    <a:pt x="371221" y="25400"/>
                  </a:lnTo>
                  <a:lnTo>
                    <a:pt x="371221" y="50800"/>
                  </a:lnTo>
                  <a:cubicBezTo>
                    <a:pt x="193929" y="50800"/>
                    <a:pt x="50800" y="192151"/>
                    <a:pt x="50800" y="365633"/>
                  </a:cubicBezTo>
                  <a:close/>
                </a:path>
              </a:pathLst>
            </a:custGeom>
            <a:solidFill>
              <a:srgbClr val="CED9CE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8121403" y="5069384"/>
            <a:ext cx="396760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Clinicians → limited documentation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675096" y="4738241"/>
            <a:ext cx="4649092" cy="1567160"/>
            <a:chOff x="0" y="0"/>
            <a:chExt cx="6198790" cy="2089547"/>
          </a:xfrm>
        </p:grpSpPr>
        <p:sp>
          <p:nvSpPr>
            <p:cNvPr id="16" name="Freeform 16"/>
            <p:cNvSpPr/>
            <p:nvPr/>
          </p:nvSpPr>
          <p:spPr>
            <a:xfrm>
              <a:off x="25400" y="25400"/>
              <a:ext cx="6147943" cy="2038731"/>
            </a:xfrm>
            <a:custGeom>
              <a:avLst/>
              <a:gdLst/>
              <a:ahLst/>
              <a:cxnLst/>
              <a:rect l="l" t="t" r="r" b="b"/>
              <a:pathLst>
                <a:path w="6147943" h="2038731">
                  <a:moveTo>
                    <a:pt x="0" y="340233"/>
                  </a:moveTo>
                  <a:cubicBezTo>
                    <a:pt x="0" y="152273"/>
                    <a:pt x="154813" y="0"/>
                    <a:pt x="345821" y="0"/>
                  </a:cubicBezTo>
                  <a:lnTo>
                    <a:pt x="5802122" y="0"/>
                  </a:lnTo>
                  <a:cubicBezTo>
                    <a:pt x="5993130" y="0"/>
                    <a:pt x="6147943" y="152273"/>
                    <a:pt x="6147943" y="340233"/>
                  </a:cubicBezTo>
                  <a:lnTo>
                    <a:pt x="6147943" y="1698498"/>
                  </a:lnTo>
                  <a:cubicBezTo>
                    <a:pt x="6147943" y="1886458"/>
                    <a:pt x="5993130" y="2038731"/>
                    <a:pt x="5802122" y="2038731"/>
                  </a:cubicBezTo>
                  <a:lnTo>
                    <a:pt x="345821" y="2038731"/>
                  </a:lnTo>
                  <a:cubicBezTo>
                    <a:pt x="154813" y="2038731"/>
                    <a:pt x="0" y="1886458"/>
                    <a:pt x="0" y="1698498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6198743" cy="2089531"/>
            </a:xfrm>
            <a:custGeom>
              <a:avLst/>
              <a:gdLst/>
              <a:ahLst/>
              <a:cxnLst/>
              <a:rect l="l" t="t" r="r" b="b"/>
              <a:pathLst>
                <a:path w="6198743" h="2089531">
                  <a:moveTo>
                    <a:pt x="0" y="365633"/>
                  </a:moveTo>
                  <a:cubicBezTo>
                    <a:pt x="0" y="163322"/>
                    <a:pt x="166624" y="0"/>
                    <a:pt x="371221" y="0"/>
                  </a:cubicBezTo>
                  <a:lnTo>
                    <a:pt x="5827522" y="0"/>
                  </a:lnTo>
                  <a:lnTo>
                    <a:pt x="5827522" y="25400"/>
                  </a:lnTo>
                  <a:lnTo>
                    <a:pt x="5827522" y="0"/>
                  </a:lnTo>
                  <a:cubicBezTo>
                    <a:pt x="6032119" y="0"/>
                    <a:pt x="6198743" y="163322"/>
                    <a:pt x="6198743" y="365633"/>
                  </a:cubicBezTo>
                  <a:lnTo>
                    <a:pt x="6173343" y="365633"/>
                  </a:lnTo>
                  <a:lnTo>
                    <a:pt x="6198743" y="365633"/>
                  </a:lnTo>
                  <a:lnTo>
                    <a:pt x="6198743" y="1723898"/>
                  </a:lnTo>
                  <a:lnTo>
                    <a:pt x="6173343" y="1723898"/>
                  </a:lnTo>
                  <a:lnTo>
                    <a:pt x="6198743" y="1723898"/>
                  </a:lnTo>
                  <a:cubicBezTo>
                    <a:pt x="6198743" y="1926209"/>
                    <a:pt x="6032119" y="2089531"/>
                    <a:pt x="5827522" y="2089531"/>
                  </a:cubicBezTo>
                  <a:lnTo>
                    <a:pt x="5827522" y="2064131"/>
                  </a:lnTo>
                  <a:lnTo>
                    <a:pt x="5827522" y="2089531"/>
                  </a:lnTo>
                  <a:lnTo>
                    <a:pt x="371221" y="2089531"/>
                  </a:lnTo>
                  <a:lnTo>
                    <a:pt x="371221" y="2064131"/>
                  </a:lnTo>
                  <a:lnTo>
                    <a:pt x="371221" y="2089531"/>
                  </a:lnTo>
                  <a:cubicBezTo>
                    <a:pt x="166624" y="2089531"/>
                    <a:pt x="0" y="1926209"/>
                    <a:pt x="0" y="1723898"/>
                  </a:cubicBezTo>
                  <a:lnTo>
                    <a:pt x="0" y="365633"/>
                  </a:lnTo>
                  <a:lnTo>
                    <a:pt x="25400" y="365633"/>
                  </a:lnTo>
                  <a:lnTo>
                    <a:pt x="0" y="365633"/>
                  </a:lnTo>
                  <a:moveTo>
                    <a:pt x="50800" y="365633"/>
                  </a:moveTo>
                  <a:lnTo>
                    <a:pt x="50800" y="1723898"/>
                  </a:lnTo>
                  <a:lnTo>
                    <a:pt x="25400" y="1723898"/>
                  </a:lnTo>
                  <a:lnTo>
                    <a:pt x="50800" y="1723898"/>
                  </a:lnTo>
                  <a:cubicBezTo>
                    <a:pt x="50800" y="1897380"/>
                    <a:pt x="193929" y="2038731"/>
                    <a:pt x="371221" y="2038731"/>
                  </a:cubicBezTo>
                  <a:lnTo>
                    <a:pt x="5827522" y="2038731"/>
                  </a:lnTo>
                  <a:cubicBezTo>
                    <a:pt x="6004941" y="2038731"/>
                    <a:pt x="6147943" y="1897380"/>
                    <a:pt x="6147943" y="1723898"/>
                  </a:cubicBezTo>
                  <a:lnTo>
                    <a:pt x="6147943" y="365633"/>
                  </a:lnTo>
                  <a:cubicBezTo>
                    <a:pt x="6147943" y="192151"/>
                    <a:pt x="6004941" y="50800"/>
                    <a:pt x="5827522" y="50800"/>
                  </a:cubicBezTo>
                  <a:lnTo>
                    <a:pt x="371221" y="50800"/>
                  </a:lnTo>
                  <a:lnTo>
                    <a:pt x="371221" y="25400"/>
                  </a:lnTo>
                  <a:lnTo>
                    <a:pt x="371221" y="50800"/>
                  </a:lnTo>
                  <a:cubicBezTo>
                    <a:pt x="193929" y="50800"/>
                    <a:pt x="50800" y="192151"/>
                    <a:pt x="50800" y="365633"/>
                  </a:cubicBezTo>
                  <a:close/>
                </a:path>
              </a:pathLst>
            </a:custGeom>
            <a:solidFill>
              <a:srgbClr val="CED9CE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3015764" y="5069384"/>
            <a:ext cx="3967757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Insurers → claim processing delays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780735" y="6550819"/>
            <a:ext cx="9543455" cy="1124248"/>
            <a:chOff x="0" y="0"/>
            <a:chExt cx="12724607" cy="1498997"/>
          </a:xfrm>
        </p:grpSpPr>
        <p:sp>
          <p:nvSpPr>
            <p:cNvPr id="20" name="Freeform 20"/>
            <p:cNvSpPr/>
            <p:nvPr/>
          </p:nvSpPr>
          <p:spPr>
            <a:xfrm>
              <a:off x="25400" y="25400"/>
              <a:ext cx="12673838" cy="1448181"/>
            </a:xfrm>
            <a:custGeom>
              <a:avLst/>
              <a:gdLst/>
              <a:ahLst/>
              <a:cxnLst/>
              <a:rect l="l" t="t" r="r" b="b"/>
              <a:pathLst>
                <a:path w="12673838" h="1448181">
                  <a:moveTo>
                    <a:pt x="0" y="340233"/>
                  </a:moveTo>
                  <a:cubicBezTo>
                    <a:pt x="0" y="152273"/>
                    <a:pt x="157099" y="0"/>
                    <a:pt x="350774" y="0"/>
                  </a:cubicBezTo>
                  <a:lnTo>
                    <a:pt x="12323064" y="0"/>
                  </a:lnTo>
                  <a:cubicBezTo>
                    <a:pt x="12516739" y="0"/>
                    <a:pt x="12673838" y="152273"/>
                    <a:pt x="12673838" y="340233"/>
                  </a:cubicBezTo>
                  <a:lnTo>
                    <a:pt x="12673838" y="1107948"/>
                  </a:lnTo>
                  <a:cubicBezTo>
                    <a:pt x="12673838" y="1295908"/>
                    <a:pt x="12516739" y="1448181"/>
                    <a:pt x="12323064" y="1448181"/>
                  </a:cubicBezTo>
                  <a:lnTo>
                    <a:pt x="350774" y="1448181"/>
                  </a:lnTo>
                  <a:cubicBezTo>
                    <a:pt x="157099" y="1448181"/>
                    <a:pt x="0" y="1295908"/>
                    <a:pt x="0" y="1107948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12724638" cy="1498981"/>
            </a:xfrm>
            <a:custGeom>
              <a:avLst/>
              <a:gdLst/>
              <a:ahLst/>
              <a:cxnLst/>
              <a:rect l="l" t="t" r="r" b="b"/>
              <a:pathLst>
                <a:path w="12724638" h="1498981">
                  <a:moveTo>
                    <a:pt x="0" y="365633"/>
                  </a:moveTo>
                  <a:cubicBezTo>
                    <a:pt x="0" y="162941"/>
                    <a:pt x="169164" y="0"/>
                    <a:pt x="376174" y="0"/>
                  </a:cubicBezTo>
                  <a:lnTo>
                    <a:pt x="12348464" y="0"/>
                  </a:lnTo>
                  <a:lnTo>
                    <a:pt x="12348464" y="25400"/>
                  </a:lnTo>
                  <a:lnTo>
                    <a:pt x="12348464" y="0"/>
                  </a:lnTo>
                  <a:cubicBezTo>
                    <a:pt x="12555474" y="0"/>
                    <a:pt x="12724638" y="162941"/>
                    <a:pt x="12724638" y="365633"/>
                  </a:cubicBezTo>
                  <a:lnTo>
                    <a:pt x="12699238" y="365633"/>
                  </a:lnTo>
                  <a:lnTo>
                    <a:pt x="12724638" y="365633"/>
                  </a:lnTo>
                  <a:lnTo>
                    <a:pt x="12724638" y="1133348"/>
                  </a:lnTo>
                  <a:lnTo>
                    <a:pt x="12699238" y="1133348"/>
                  </a:lnTo>
                  <a:lnTo>
                    <a:pt x="12724638" y="1133348"/>
                  </a:lnTo>
                  <a:cubicBezTo>
                    <a:pt x="12724638" y="1336040"/>
                    <a:pt x="12555474" y="1498981"/>
                    <a:pt x="12348464" y="1498981"/>
                  </a:cubicBezTo>
                  <a:lnTo>
                    <a:pt x="12348464" y="1473581"/>
                  </a:lnTo>
                  <a:lnTo>
                    <a:pt x="12348464" y="1498981"/>
                  </a:lnTo>
                  <a:lnTo>
                    <a:pt x="376174" y="1498981"/>
                  </a:lnTo>
                  <a:lnTo>
                    <a:pt x="376174" y="1473581"/>
                  </a:lnTo>
                  <a:lnTo>
                    <a:pt x="376174" y="1498981"/>
                  </a:lnTo>
                  <a:cubicBezTo>
                    <a:pt x="169164" y="1498981"/>
                    <a:pt x="0" y="1336040"/>
                    <a:pt x="0" y="1133348"/>
                  </a:cubicBezTo>
                  <a:lnTo>
                    <a:pt x="0" y="365633"/>
                  </a:lnTo>
                  <a:lnTo>
                    <a:pt x="25400" y="365633"/>
                  </a:lnTo>
                  <a:lnTo>
                    <a:pt x="0" y="365633"/>
                  </a:lnTo>
                  <a:moveTo>
                    <a:pt x="50800" y="365633"/>
                  </a:moveTo>
                  <a:lnTo>
                    <a:pt x="50800" y="1133348"/>
                  </a:lnTo>
                  <a:lnTo>
                    <a:pt x="25400" y="1133348"/>
                  </a:lnTo>
                  <a:lnTo>
                    <a:pt x="50800" y="1133348"/>
                  </a:lnTo>
                  <a:cubicBezTo>
                    <a:pt x="50800" y="1306449"/>
                    <a:pt x="195707" y="1448181"/>
                    <a:pt x="376174" y="1448181"/>
                  </a:cubicBezTo>
                  <a:lnTo>
                    <a:pt x="12348464" y="1448181"/>
                  </a:lnTo>
                  <a:cubicBezTo>
                    <a:pt x="12528931" y="1448181"/>
                    <a:pt x="12673838" y="1306449"/>
                    <a:pt x="12673838" y="1133348"/>
                  </a:cubicBezTo>
                  <a:lnTo>
                    <a:pt x="12673838" y="365633"/>
                  </a:lnTo>
                  <a:cubicBezTo>
                    <a:pt x="12673838" y="192532"/>
                    <a:pt x="12528931" y="50800"/>
                    <a:pt x="12348464" y="50800"/>
                  </a:cubicBezTo>
                  <a:lnTo>
                    <a:pt x="376174" y="50800"/>
                  </a:lnTo>
                  <a:lnTo>
                    <a:pt x="376174" y="25400"/>
                  </a:lnTo>
                  <a:lnTo>
                    <a:pt x="376174" y="50800"/>
                  </a:lnTo>
                  <a:cubicBezTo>
                    <a:pt x="195707" y="50800"/>
                    <a:pt x="50800" y="192532"/>
                    <a:pt x="50800" y="365633"/>
                  </a:cubicBezTo>
                  <a:close/>
                </a:path>
              </a:pathLst>
            </a:custGeom>
            <a:solidFill>
              <a:srgbClr val="CED9CE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8121403" y="6881961"/>
            <a:ext cx="6811566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Policymakers → fragmented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947416"/>
            <a:ext cx="7088237" cy="90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The Opportunity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3419475"/>
            <a:ext cx="8009930" cy="2087315"/>
            <a:chOff x="0" y="0"/>
            <a:chExt cx="10679907" cy="27830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79938" cy="2783078"/>
            </a:xfrm>
            <a:custGeom>
              <a:avLst/>
              <a:gdLst/>
              <a:ahLst/>
              <a:cxnLst/>
              <a:rect l="l" t="t" r="r" b="b"/>
              <a:pathLst>
                <a:path w="10679938" h="2783078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10339705" y="0"/>
                  </a:lnTo>
                  <a:cubicBezTo>
                    <a:pt x="10527665" y="0"/>
                    <a:pt x="10679938" y="152273"/>
                    <a:pt x="10679938" y="340233"/>
                  </a:cubicBezTo>
                  <a:lnTo>
                    <a:pt x="10679938" y="2442845"/>
                  </a:lnTo>
                  <a:cubicBezTo>
                    <a:pt x="10679938" y="2630805"/>
                    <a:pt x="10527665" y="2783078"/>
                    <a:pt x="10339705" y="2783078"/>
                  </a:cubicBezTo>
                  <a:lnTo>
                    <a:pt x="340233" y="2783078"/>
                  </a:lnTo>
                  <a:cubicBezTo>
                    <a:pt x="152273" y="2783078"/>
                    <a:pt x="0" y="2630805"/>
                    <a:pt x="0" y="2442845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275755" y="3693467"/>
            <a:ext cx="6608117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Enable dual coding (AYUSH + ICD-11)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5755" y="4211241"/>
            <a:ext cx="7442895" cy="88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Seamless integration of traditional and modern coding systems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285685" y="3419475"/>
            <a:ext cx="8010079" cy="2087315"/>
            <a:chOff x="0" y="0"/>
            <a:chExt cx="10680105" cy="27830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80064" cy="2783078"/>
            </a:xfrm>
            <a:custGeom>
              <a:avLst/>
              <a:gdLst/>
              <a:ahLst/>
              <a:cxnLst/>
              <a:rect l="l" t="t" r="r" b="b"/>
              <a:pathLst>
                <a:path w="10680064" h="2783078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10339832" y="0"/>
                  </a:lnTo>
                  <a:cubicBezTo>
                    <a:pt x="10527792" y="0"/>
                    <a:pt x="10680064" y="152273"/>
                    <a:pt x="10680064" y="340233"/>
                  </a:cubicBezTo>
                  <a:lnTo>
                    <a:pt x="10680064" y="2442845"/>
                  </a:lnTo>
                  <a:cubicBezTo>
                    <a:pt x="10680064" y="2630805"/>
                    <a:pt x="10527792" y="2783078"/>
                    <a:pt x="10339832" y="2783078"/>
                  </a:cubicBezTo>
                  <a:lnTo>
                    <a:pt x="340233" y="2783078"/>
                  </a:lnTo>
                  <a:cubicBezTo>
                    <a:pt x="152273" y="2783078"/>
                    <a:pt x="0" y="2630805"/>
                    <a:pt x="0" y="2442845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569202" y="3693467"/>
            <a:ext cx="7046267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Support EHR Standards of India (2016)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69202" y="4211241"/>
            <a:ext cx="7443044" cy="88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Compliance with national electronic health record requirements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2238" y="5790308"/>
            <a:ext cx="8009930" cy="2530227"/>
            <a:chOff x="0" y="0"/>
            <a:chExt cx="10679907" cy="33736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79938" cy="3373628"/>
            </a:xfrm>
            <a:custGeom>
              <a:avLst/>
              <a:gdLst/>
              <a:ahLst/>
              <a:cxnLst/>
              <a:rect l="l" t="t" r="r" b="b"/>
              <a:pathLst>
                <a:path w="10679938" h="3373628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10339705" y="0"/>
                  </a:lnTo>
                  <a:cubicBezTo>
                    <a:pt x="10527665" y="0"/>
                    <a:pt x="10679938" y="152273"/>
                    <a:pt x="10679938" y="340233"/>
                  </a:cubicBezTo>
                  <a:lnTo>
                    <a:pt x="10679938" y="3033395"/>
                  </a:lnTo>
                  <a:cubicBezTo>
                    <a:pt x="10679938" y="3221355"/>
                    <a:pt x="10527665" y="3373628"/>
                    <a:pt x="10339705" y="3373628"/>
                  </a:cubicBezTo>
                  <a:lnTo>
                    <a:pt x="340233" y="3373628"/>
                  </a:lnTo>
                  <a:cubicBezTo>
                    <a:pt x="152273" y="3373628"/>
                    <a:pt x="0" y="3221355"/>
                    <a:pt x="0" y="3033395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275755" y="6064300"/>
            <a:ext cx="744289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Unlock global health reporting compatibility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5755" y="7024985"/>
            <a:ext cx="7442895" cy="88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International standardization for broader healthcare integration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285685" y="5790308"/>
            <a:ext cx="8010079" cy="2530227"/>
            <a:chOff x="0" y="0"/>
            <a:chExt cx="10680105" cy="337363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80064" cy="3373628"/>
            </a:xfrm>
            <a:custGeom>
              <a:avLst/>
              <a:gdLst/>
              <a:ahLst/>
              <a:cxnLst/>
              <a:rect l="l" t="t" r="r" b="b"/>
              <a:pathLst>
                <a:path w="10680064" h="3373628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10339832" y="0"/>
                  </a:lnTo>
                  <a:cubicBezTo>
                    <a:pt x="10527792" y="0"/>
                    <a:pt x="10680064" y="152273"/>
                    <a:pt x="10680064" y="340233"/>
                  </a:cubicBezTo>
                  <a:lnTo>
                    <a:pt x="10680064" y="3033395"/>
                  </a:lnTo>
                  <a:cubicBezTo>
                    <a:pt x="10680064" y="3221355"/>
                    <a:pt x="10527792" y="3373628"/>
                    <a:pt x="10339832" y="3373628"/>
                  </a:cubicBezTo>
                  <a:lnTo>
                    <a:pt x="340233" y="3373628"/>
                  </a:lnTo>
                  <a:cubicBezTo>
                    <a:pt x="152273" y="3373628"/>
                    <a:pt x="0" y="3221355"/>
                    <a:pt x="0" y="3033395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9569202" y="6064300"/>
            <a:ext cx="7443044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Strengthen AYUSH's digital transformation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69202" y="7024985"/>
            <a:ext cx="7443044" cy="88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Modernize traditional medicine documentation and accessibility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60239" y="725984"/>
            <a:ext cx="6859638" cy="885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Our 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0239" y="2013943"/>
            <a:ext cx="682198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87" b="1">
                <a:solidFill>
                  <a:srgbClr val="438951"/>
                </a:solidFill>
                <a:latin typeface="Fraunces Bold"/>
                <a:ea typeface="Fraunces Bold"/>
                <a:cs typeface="Fraunces Bold"/>
                <a:sym typeface="Fraunces Bold"/>
              </a:rPr>
              <a:t>A FHIR-based microservice that: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60239" y="2949328"/>
            <a:ext cx="1371897" cy="1646188"/>
            <a:chOff x="0" y="0"/>
            <a:chExt cx="1829197" cy="2194917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829181" cy="2194941"/>
            </a:xfrm>
            <a:custGeom>
              <a:avLst/>
              <a:gdLst/>
              <a:ahLst/>
              <a:cxnLst/>
              <a:rect l="l" t="t" r="r" b="b"/>
              <a:pathLst>
                <a:path w="1829181" h="2194941">
                  <a:moveTo>
                    <a:pt x="0" y="0"/>
                  </a:moveTo>
                  <a:lnTo>
                    <a:pt x="1829181" y="0"/>
                  </a:lnTo>
                  <a:lnTo>
                    <a:pt x="1829181" y="2194941"/>
                  </a:lnTo>
                  <a:lnTo>
                    <a:pt x="0" y="2194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0" b="-59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606428" y="3214093"/>
            <a:ext cx="8666410" cy="43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Converts NAMASTE datasets → FHIR CodeSystem</a:t>
            </a: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960239" y="4595515"/>
            <a:ext cx="1371897" cy="1646188"/>
            <a:chOff x="0" y="0"/>
            <a:chExt cx="1829197" cy="2194917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829181" cy="2194941"/>
            </a:xfrm>
            <a:custGeom>
              <a:avLst/>
              <a:gdLst/>
              <a:ahLst/>
              <a:cxnLst/>
              <a:rect l="l" t="t" r="r" b="b"/>
              <a:pathLst>
                <a:path w="1829181" h="2194941">
                  <a:moveTo>
                    <a:pt x="0" y="0"/>
                  </a:moveTo>
                  <a:lnTo>
                    <a:pt x="1829181" y="0"/>
                  </a:lnTo>
                  <a:lnTo>
                    <a:pt x="1829181" y="2194941"/>
                  </a:lnTo>
                  <a:lnTo>
                    <a:pt x="0" y="2194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0" b="-59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2606428" y="4860280"/>
            <a:ext cx="7101185" cy="43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Fetches ICD-11 codes from WHO ICD API</a:t>
            </a:r>
          </a:p>
        </p:txBody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960239" y="6241702"/>
            <a:ext cx="1371897" cy="1646187"/>
            <a:chOff x="0" y="0"/>
            <a:chExt cx="1829197" cy="2194917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829181" cy="2194941"/>
            </a:xfrm>
            <a:custGeom>
              <a:avLst/>
              <a:gdLst/>
              <a:ahLst/>
              <a:cxnLst/>
              <a:rect l="l" t="t" r="r" b="b"/>
              <a:pathLst>
                <a:path w="1829181" h="2194941">
                  <a:moveTo>
                    <a:pt x="0" y="0"/>
                  </a:moveTo>
                  <a:lnTo>
                    <a:pt x="1829181" y="0"/>
                  </a:lnTo>
                  <a:lnTo>
                    <a:pt x="1829181" y="2194941"/>
                  </a:lnTo>
                  <a:lnTo>
                    <a:pt x="0" y="2194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0" b="-59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2606428" y="6506467"/>
            <a:ext cx="4664720" cy="43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Maps both via ConceptMap</a:t>
            </a:r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960239" y="7887891"/>
            <a:ext cx="1371897" cy="1646187"/>
            <a:chOff x="0" y="0"/>
            <a:chExt cx="1829197" cy="2194917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829181" cy="2194941"/>
            </a:xfrm>
            <a:custGeom>
              <a:avLst/>
              <a:gdLst/>
              <a:ahLst/>
              <a:cxnLst/>
              <a:rect l="l" t="t" r="r" b="b"/>
              <a:pathLst>
                <a:path w="1829181" h="2194941">
                  <a:moveTo>
                    <a:pt x="0" y="0"/>
                  </a:moveTo>
                  <a:lnTo>
                    <a:pt x="1829181" y="0"/>
                  </a:lnTo>
                  <a:lnTo>
                    <a:pt x="1829181" y="2194941"/>
                  </a:lnTo>
                  <a:lnTo>
                    <a:pt x="0" y="2194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0" b="-59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2606428" y="8152656"/>
            <a:ext cx="10773519" cy="43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Exposes REST APIs for search, translation, dual-coded upload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DEEEE1"/>
          </a:solidFill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8288000" cy="105537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18290CA-AC81-3B17-9EEB-293824D28D8F}"/>
              </a:ext>
            </a:extLst>
          </p:cNvPr>
          <p:cNvGrpSpPr/>
          <p:nvPr/>
        </p:nvGrpSpPr>
        <p:grpSpPr>
          <a:xfrm>
            <a:off x="527596" y="1061451"/>
            <a:ext cx="17232809" cy="2576835"/>
            <a:chOff x="527596" y="404961"/>
            <a:chExt cx="17232809" cy="2576835"/>
          </a:xfrm>
        </p:grpSpPr>
        <p:sp>
          <p:nvSpPr>
            <p:cNvPr id="6" name="TextBox 6"/>
            <p:cNvSpPr txBox="1"/>
            <p:nvPr/>
          </p:nvSpPr>
          <p:spPr>
            <a:xfrm>
              <a:off x="527596" y="404961"/>
              <a:ext cx="4403675" cy="480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7"/>
                </a:lnSpc>
              </a:pPr>
              <a:r>
                <a:rPr lang="en-US" sz="2937" b="1">
                  <a:solidFill>
                    <a:srgbClr val="3B4540"/>
                  </a:solidFill>
                  <a:latin typeface="Fraunces Bold"/>
                  <a:ea typeface="Fraunces Bold"/>
                  <a:cs typeface="Fraunces Bold"/>
                  <a:sym typeface="Fraunces Bold"/>
                </a:rPr>
                <a:t>Technical Architecture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7596" y="1111597"/>
              <a:ext cx="2261295" cy="28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87"/>
                </a:lnSpc>
              </a:pPr>
              <a:r>
                <a:rPr lang="en-US" sz="1750" b="1">
                  <a:solidFill>
                    <a:srgbClr val="438951"/>
                  </a:solidFill>
                  <a:latin typeface="Fraunces Bold"/>
                  <a:ea typeface="Fraunces Bold"/>
                  <a:cs typeface="Fraunces Bold"/>
                  <a:sym typeface="Fraunces Bold"/>
                </a:rPr>
                <a:t>Components: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7596" y="1562992"/>
              <a:ext cx="17232809" cy="243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69664" lvl="1" indent="-84832" algn="l">
                <a:lnSpc>
                  <a:spcPts val="1874"/>
                </a:lnSpc>
                <a:buFont typeface="Arial"/>
                <a:buChar char="•"/>
              </a:pPr>
              <a:r>
                <a:rPr lang="en-US" sz="1600" dirty="0">
                  <a:solidFill>
                    <a:srgbClr val="405449"/>
                  </a:solidFill>
                  <a:latin typeface="Times New Roman" panose="02020603050405020304" pitchFamily="18" charset="0"/>
                  <a:ea typeface="Arimo"/>
                  <a:cs typeface="Times New Roman" panose="02020603050405020304" pitchFamily="18" charset="0"/>
                  <a:sym typeface="Arimo"/>
                </a:rPr>
                <a:t>Data Layer: NAMASTE datasets + ICD-11 API cache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7596" y="1856780"/>
              <a:ext cx="17232809" cy="243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69664" lvl="1" indent="-84832" algn="l">
                <a:lnSpc>
                  <a:spcPts val="1874"/>
                </a:lnSpc>
                <a:buFont typeface="Arial"/>
                <a:buChar char="•"/>
              </a:pPr>
              <a:r>
                <a:rPr lang="en-US" sz="1600" dirty="0">
                  <a:solidFill>
                    <a:srgbClr val="405449"/>
                  </a:solidFill>
                  <a:latin typeface="Times New Roman" panose="02020603050405020304" pitchFamily="18" charset="0"/>
                  <a:ea typeface="Arimo"/>
                  <a:cs typeface="Times New Roman" panose="02020603050405020304" pitchFamily="18" charset="0"/>
                  <a:sym typeface="Arimo"/>
                </a:rPr>
                <a:t>FHIR Engine: Code System + Concept Map generation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7596" y="2150566"/>
              <a:ext cx="17232809" cy="243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69664" lvl="1" indent="-84832" algn="l">
                <a:lnSpc>
                  <a:spcPts val="1874"/>
                </a:lnSpc>
                <a:buFont typeface="Arial"/>
                <a:buChar char="•"/>
              </a:pPr>
              <a:r>
                <a:rPr lang="en-US" sz="1600" dirty="0">
                  <a:solidFill>
                    <a:srgbClr val="405449"/>
                  </a:solidFill>
                  <a:latin typeface="Times New Roman" panose="02020603050405020304" pitchFamily="18" charset="0"/>
                  <a:ea typeface="Arimo"/>
                  <a:cs typeface="Times New Roman" panose="02020603050405020304" pitchFamily="18" charset="0"/>
                  <a:sym typeface="Arimo"/>
                </a:rPr>
                <a:t>API Layer: Search, Translate, Upload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7596" y="2444354"/>
              <a:ext cx="17232809" cy="243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69664" lvl="1" indent="-84832" algn="l">
                <a:lnSpc>
                  <a:spcPts val="1874"/>
                </a:lnSpc>
                <a:buFont typeface="Arial"/>
                <a:buChar char="•"/>
              </a:pPr>
              <a:r>
                <a:rPr lang="en-US" sz="1600" dirty="0">
                  <a:solidFill>
                    <a:srgbClr val="405449"/>
                  </a:solidFill>
                  <a:latin typeface="Times New Roman" panose="02020603050405020304" pitchFamily="18" charset="0"/>
                  <a:ea typeface="Arimo"/>
                  <a:cs typeface="Times New Roman" panose="02020603050405020304" pitchFamily="18" charset="0"/>
                  <a:sym typeface="Arimo"/>
                </a:rPr>
                <a:t>Security: OAuth2.0, ABHA, Consent Manager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7596" y="2738140"/>
              <a:ext cx="17232809" cy="243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69664" lvl="1" indent="-84832" algn="l">
                <a:lnSpc>
                  <a:spcPts val="1874"/>
                </a:lnSpc>
                <a:buFont typeface="Arial"/>
                <a:buChar char="•"/>
              </a:pPr>
              <a:r>
                <a:rPr lang="en-US" sz="1600" dirty="0">
                  <a:solidFill>
                    <a:srgbClr val="405449"/>
                  </a:solidFill>
                  <a:latin typeface="Times New Roman" panose="02020603050405020304" pitchFamily="18" charset="0"/>
                  <a:ea typeface="Arimo"/>
                  <a:cs typeface="Times New Roman" panose="02020603050405020304" pitchFamily="18" charset="0"/>
                  <a:sym typeface="Arimo"/>
                </a:rPr>
                <a:t>Demo Frontend: Clinician search &amp; entry</a:t>
              </a:r>
            </a:p>
          </p:txBody>
        </p:sp>
      </p:grpSp>
      <p:sp>
        <p:nvSpPr>
          <p:cNvPr id="14" name="Freeform 14" descr="preencoded.png"/>
          <p:cNvSpPr/>
          <p:nvPr/>
        </p:nvSpPr>
        <p:spPr>
          <a:xfrm>
            <a:off x="544790" y="4844995"/>
            <a:ext cx="17232821" cy="4450860"/>
          </a:xfrm>
          <a:custGeom>
            <a:avLst/>
            <a:gdLst/>
            <a:ahLst/>
            <a:cxnLst/>
            <a:rect l="l" t="t" r="r" b="b"/>
            <a:pathLst>
              <a:path w="22977094" h="9289034">
                <a:moveTo>
                  <a:pt x="0" y="0"/>
                </a:moveTo>
                <a:lnTo>
                  <a:pt x="22977094" y="0"/>
                </a:lnTo>
                <a:lnTo>
                  <a:pt x="22977094" y="9289034"/>
                </a:lnTo>
                <a:lnTo>
                  <a:pt x="0" y="9289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214" b="-2021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8" name="Freeform 18" descr="preencoded.png"/>
          <p:cNvSpPr/>
          <p:nvPr/>
        </p:nvSpPr>
        <p:spPr>
          <a:xfrm>
            <a:off x="5854540" y="7490406"/>
            <a:ext cx="513493" cy="513493"/>
          </a:xfrm>
          <a:custGeom>
            <a:avLst/>
            <a:gdLst/>
            <a:ahLst/>
            <a:cxnLst/>
            <a:rect l="l" t="t" r="r" b="b"/>
            <a:pathLst>
              <a:path w="684657" h="684657">
                <a:moveTo>
                  <a:pt x="0" y="0"/>
                </a:moveTo>
                <a:lnTo>
                  <a:pt x="684657" y="0"/>
                </a:lnTo>
                <a:lnTo>
                  <a:pt x="684657" y="684657"/>
                </a:lnTo>
                <a:lnTo>
                  <a:pt x="0" y="6846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7" b="-7"/>
            </a:stretch>
          </a:blipFill>
        </p:spPr>
      </p:sp>
      <p:sp>
        <p:nvSpPr>
          <p:cNvPr id="24" name="Freeform 24" descr="preencoded.png"/>
          <p:cNvSpPr/>
          <p:nvPr/>
        </p:nvSpPr>
        <p:spPr>
          <a:xfrm>
            <a:off x="11982651" y="7490406"/>
            <a:ext cx="513493" cy="513493"/>
          </a:xfrm>
          <a:custGeom>
            <a:avLst/>
            <a:gdLst/>
            <a:ahLst/>
            <a:cxnLst/>
            <a:rect l="l" t="t" r="r" b="b"/>
            <a:pathLst>
              <a:path w="684657" h="684657">
                <a:moveTo>
                  <a:pt x="0" y="0"/>
                </a:moveTo>
                <a:lnTo>
                  <a:pt x="684657" y="0"/>
                </a:lnTo>
                <a:lnTo>
                  <a:pt x="684657" y="684657"/>
                </a:lnTo>
                <a:lnTo>
                  <a:pt x="0" y="6846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7" b="-7"/>
            </a:stretch>
          </a:blipFill>
        </p:spPr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F95DB03-700A-C800-1DEF-7D398CB5EDBB}"/>
              </a:ext>
            </a:extLst>
          </p:cNvPr>
          <p:cNvGrpSpPr/>
          <p:nvPr/>
        </p:nvGrpSpPr>
        <p:grpSpPr>
          <a:xfrm>
            <a:off x="4034188" y="4716691"/>
            <a:ext cx="10253460" cy="807809"/>
            <a:chOff x="4034188" y="4288072"/>
            <a:chExt cx="10253460" cy="807809"/>
          </a:xfrm>
        </p:grpSpPr>
        <p:sp>
          <p:nvSpPr>
            <p:cNvPr id="19" name="TextBox 19"/>
            <p:cNvSpPr txBox="1"/>
            <p:nvPr/>
          </p:nvSpPr>
          <p:spPr>
            <a:xfrm>
              <a:off x="4171127" y="4288072"/>
              <a:ext cx="3851466" cy="481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2"/>
                </a:lnSpc>
              </a:pPr>
              <a:r>
                <a:rPr lang="en-US" sz="1687" b="1">
                  <a:solidFill>
                    <a:srgbClr val="405449"/>
                  </a:solidFill>
                  <a:latin typeface="Fraunces Bold"/>
                  <a:ea typeface="Fraunces Bold"/>
                  <a:cs typeface="Fraunces Bold"/>
                  <a:sym typeface="Fraunces Bold"/>
                </a:rPr>
                <a:t>FHIR Engine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34188" y="4877873"/>
              <a:ext cx="4125349" cy="218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7"/>
                </a:lnSpc>
              </a:pPr>
              <a:r>
                <a:rPr lang="en-US" sz="1600" i="1" dirty="0">
                  <a:solidFill>
                    <a:srgbClr val="405449"/>
                  </a:solidFill>
                  <a:latin typeface="Times New Roman" panose="02020603050405020304" pitchFamily="18" charset="0"/>
                  <a:ea typeface="Arimo"/>
                  <a:cs typeface="Times New Roman" panose="02020603050405020304" pitchFamily="18" charset="0"/>
                  <a:sym typeface="Arimo"/>
                </a:rPr>
                <a:t>Code System and Concept Map generation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99240" y="4288072"/>
              <a:ext cx="3851466" cy="481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2"/>
                </a:lnSpc>
              </a:pPr>
              <a:r>
                <a:rPr lang="en-US" sz="1687" b="1">
                  <a:solidFill>
                    <a:srgbClr val="405449"/>
                  </a:solidFill>
                  <a:latin typeface="Fraunces Bold"/>
                  <a:ea typeface="Fraunces Bold"/>
                  <a:cs typeface="Fraunces Bold"/>
                  <a:sym typeface="Fraunces Bold"/>
                </a:rPr>
                <a:t>Security Stack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62299" y="4877873"/>
              <a:ext cx="4125349" cy="218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7"/>
                </a:lnSpc>
              </a:pPr>
              <a:r>
                <a:rPr lang="en-US" sz="1600" i="1" dirty="0">
                  <a:solidFill>
                    <a:srgbClr val="405449"/>
                  </a:solidFill>
                  <a:latin typeface="Times New Roman" panose="02020603050405020304" pitchFamily="18" charset="0"/>
                  <a:ea typeface="Arimo"/>
                  <a:cs typeface="Times New Roman" panose="02020603050405020304" pitchFamily="18" charset="0"/>
                  <a:sym typeface="Arimo"/>
                </a:rPr>
                <a:t>OAuth2.0, ABHA and Consent Manager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434AF5C-C49D-C52D-E606-21B8938137D4}"/>
              </a:ext>
            </a:extLst>
          </p:cNvPr>
          <p:cNvGrpSpPr/>
          <p:nvPr/>
        </p:nvGrpSpPr>
        <p:grpSpPr>
          <a:xfrm>
            <a:off x="913692" y="8704591"/>
            <a:ext cx="14646544" cy="1016488"/>
            <a:chOff x="913692" y="8226465"/>
            <a:chExt cx="14646544" cy="1016488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2790484" y="8226465"/>
              <a:ext cx="513529" cy="513529"/>
              <a:chOff x="0" y="0"/>
              <a:chExt cx="684705" cy="684705"/>
            </a:xfrm>
          </p:grpSpPr>
          <p:sp>
            <p:nvSpPr>
              <p:cNvPr id="16" name="Freeform 16" descr="preencoded.png"/>
              <p:cNvSpPr/>
              <p:nvPr/>
            </p:nvSpPr>
            <p:spPr>
              <a:xfrm>
                <a:off x="0" y="0"/>
                <a:ext cx="684657" cy="684657"/>
              </a:xfrm>
              <a:custGeom>
                <a:avLst/>
                <a:gdLst/>
                <a:ahLst/>
                <a:cxnLst/>
                <a:rect l="l" t="t" r="r" b="b"/>
                <a:pathLst>
                  <a:path w="684657" h="684657">
                    <a:moveTo>
                      <a:pt x="0" y="0"/>
                    </a:moveTo>
                    <a:lnTo>
                      <a:pt x="684657" y="0"/>
                    </a:lnTo>
                    <a:lnTo>
                      <a:pt x="684657" y="684657"/>
                    </a:lnTo>
                    <a:lnTo>
                      <a:pt x="0" y="68465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r="-7" b="-7"/>
                </a:stretch>
              </a:blipFill>
            </p:spPr>
          </p:sp>
        </p:grpSp>
        <p:grpSp>
          <p:nvGrpSpPr>
            <p:cNvPr id="21" name="Group 21"/>
            <p:cNvGrpSpPr>
              <a:grpSpLocks noChangeAspect="1"/>
            </p:cNvGrpSpPr>
            <p:nvPr/>
          </p:nvGrpSpPr>
          <p:grpSpPr>
            <a:xfrm>
              <a:off x="8918596" y="8226465"/>
              <a:ext cx="513529" cy="513529"/>
              <a:chOff x="0" y="0"/>
              <a:chExt cx="684705" cy="684705"/>
            </a:xfrm>
          </p:grpSpPr>
          <p:sp>
            <p:nvSpPr>
              <p:cNvPr id="22" name="Freeform 22" descr="preencoded.png"/>
              <p:cNvSpPr/>
              <p:nvPr/>
            </p:nvSpPr>
            <p:spPr>
              <a:xfrm>
                <a:off x="0" y="0"/>
                <a:ext cx="684657" cy="684657"/>
              </a:xfrm>
              <a:custGeom>
                <a:avLst/>
                <a:gdLst/>
                <a:ahLst/>
                <a:cxnLst/>
                <a:rect l="l" t="t" r="r" b="b"/>
                <a:pathLst>
                  <a:path w="684657" h="684657">
                    <a:moveTo>
                      <a:pt x="0" y="0"/>
                    </a:moveTo>
                    <a:lnTo>
                      <a:pt x="684657" y="0"/>
                    </a:lnTo>
                    <a:lnTo>
                      <a:pt x="684657" y="684657"/>
                    </a:lnTo>
                    <a:lnTo>
                      <a:pt x="0" y="68465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r="-7" b="-7"/>
                </a:stretch>
              </a:blipFill>
            </p:spPr>
          </p:sp>
        </p:grpSp>
        <p:grpSp>
          <p:nvGrpSpPr>
            <p:cNvPr id="27" name="Group 27"/>
            <p:cNvGrpSpPr>
              <a:grpSpLocks noChangeAspect="1"/>
            </p:cNvGrpSpPr>
            <p:nvPr/>
          </p:nvGrpSpPr>
          <p:grpSpPr>
            <a:xfrm>
              <a:off x="15046707" y="8226465"/>
              <a:ext cx="513529" cy="513529"/>
              <a:chOff x="0" y="0"/>
              <a:chExt cx="684705" cy="684705"/>
            </a:xfrm>
          </p:grpSpPr>
          <p:sp>
            <p:nvSpPr>
              <p:cNvPr id="28" name="Freeform 28" descr="preencoded.png"/>
              <p:cNvSpPr/>
              <p:nvPr/>
            </p:nvSpPr>
            <p:spPr>
              <a:xfrm>
                <a:off x="0" y="0"/>
                <a:ext cx="684657" cy="684657"/>
              </a:xfrm>
              <a:custGeom>
                <a:avLst/>
                <a:gdLst/>
                <a:ahLst/>
                <a:cxnLst/>
                <a:rect l="l" t="t" r="r" b="b"/>
                <a:pathLst>
                  <a:path w="684657" h="684657">
                    <a:moveTo>
                      <a:pt x="0" y="0"/>
                    </a:moveTo>
                    <a:lnTo>
                      <a:pt x="684657" y="0"/>
                    </a:lnTo>
                    <a:lnTo>
                      <a:pt x="684657" y="684657"/>
                    </a:lnTo>
                    <a:lnTo>
                      <a:pt x="0" y="68465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r="-7" b="-7"/>
                </a:stretch>
              </a:blipFill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50634" y="8429568"/>
              <a:ext cx="3851467" cy="255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2"/>
                </a:lnSpc>
              </a:pPr>
              <a:r>
                <a:rPr lang="en-US" sz="1687" b="1" dirty="0">
                  <a:solidFill>
                    <a:srgbClr val="405449"/>
                  </a:solidFill>
                  <a:latin typeface="Fraunces Bold"/>
                  <a:ea typeface="Fraunces Bold"/>
                  <a:cs typeface="Fraunces Bold"/>
                  <a:sym typeface="Fraunces Bold"/>
                </a:rPr>
                <a:t>Data Layer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3692" y="9019366"/>
              <a:ext cx="4125349" cy="218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7"/>
                </a:lnSpc>
              </a:pPr>
              <a:r>
                <a:rPr lang="en-US" i="1" dirty="0">
                  <a:solidFill>
                    <a:srgbClr val="405449"/>
                  </a:solidFill>
                  <a:latin typeface="Times New Roman" panose="02020603050405020304" pitchFamily="18" charset="0"/>
                  <a:ea typeface="Arimo"/>
                  <a:cs typeface="Times New Roman" panose="02020603050405020304" pitchFamily="18" charset="0"/>
                  <a:sym typeface="Arimo"/>
                </a:rPr>
                <a:t>NAMASTE datasets and ICD-11 API cache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78745" y="8429568"/>
              <a:ext cx="3851466" cy="255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2"/>
                </a:lnSpc>
              </a:pPr>
              <a:r>
                <a:rPr lang="en-US" sz="1687" b="1">
                  <a:solidFill>
                    <a:srgbClr val="405449"/>
                  </a:solidFill>
                  <a:latin typeface="Fraunces Bold"/>
                  <a:ea typeface="Fraunces Bold"/>
                  <a:cs typeface="Fraunces Bold"/>
                  <a:sym typeface="Fraunces Bold"/>
                </a:rPr>
                <a:t>API Layer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41804" y="9019366"/>
              <a:ext cx="412534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7"/>
                </a:lnSpc>
              </a:pPr>
              <a:r>
                <a:rPr lang="en-US" i="1" dirty="0">
                  <a:solidFill>
                    <a:srgbClr val="405449"/>
                  </a:solidFill>
                  <a:latin typeface="Times New Roman" panose="02020603050405020304" pitchFamily="18" charset="0"/>
                  <a:ea typeface="Arimo"/>
                  <a:cs typeface="Times New Roman" panose="02020603050405020304" pitchFamily="18" charset="0"/>
                  <a:sym typeface="Arimo"/>
                </a:rPr>
                <a:t>Search, Translate and Upload endpoints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3306855" y="8800725"/>
            <a:ext cx="3851466" cy="255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1" dirty="0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Demo Frontend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169916" y="9462962"/>
            <a:ext cx="4125349" cy="22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Clinician search and data entry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309539"/>
            <a:ext cx="7088237" cy="90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Core Features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992238" y="2781597"/>
            <a:ext cx="708720" cy="708720"/>
            <a:chOff x="0" y="0"/>
            <a:chExt cx="944960" cy="94496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4" b="4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92238" y="3835153"/>
            <a:ext cx="519826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Autocomplete code search (AYUSH &amp; ICD-11)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795837"/>
            <a:ext cx="5198269" cy="87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Intelligent search functionality for both coding systems</a:t>
            </a: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6544866" y="2781597"/>
            <a:ext cx="708720" cy="708720"/>
            <a:chOff x="0" y="0"/>
            <a:chExt cx="944960" cy="94496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4" b="4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6544866" y="3835153"/>
            <a:ext cx="519826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Dual-coded ProblemList uploads (FHIR R4)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44866" y="4795837"/>
            <a:ext cx="5198269" cy="88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Seamless integration with FHIR R4 standards</a:t>
            </a:r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2097494" y="2781597"/>
            <a:ext cx="708720" cy="708720"/>
            <a:chOff x="0" y="0"/>
            <a:chExt cx="944960" cy="944960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4" b="4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2097494" y="3835153"/>
            <a:ext cx="519826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Secure authentication &amp; consent (ISO 22600)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97494" y="4795837"/>
            <a:ext cx="5198269" cy="87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Robust security protocols for healthcare data protection</a:t>
            </a:r>
          </a:p>
        </p:txBody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992238" y="6374904"/>
            <a:ext cx="708720" cy="708720"/>
            <a:chOff x="0" y="0"/>
            <a:chExt cx="944960" cy="944960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4" b="4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992238" y="7428459"/>
            <a:ext cx="3949304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Detailed audit logging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2238" y="7946231"/>
            <a:ext cx="5198269" cy="87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Comprehensive tracking and monitoring capabilities</a:t>
            </a:r>
          </a:p>
        </p:txBody>
      </p: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6544866" y="6374904"/>
            <a:ext cx="708720" cy="708720"/>
            <a:chOff x="0" y="0"/>
            <a:chExt cx="944960" cy="944960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4" b="4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6544866" y="7428459"/>
            <a:ext cx="4885879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Lightweight clinician demo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44866" y="7946231"/>
            <a:ext cx="5198269" cy="87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User-friendly interface for healthcare professionals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61132" y="726579"/>
            <a:ext cx="6865739" cy="886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Benefits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61132" y="2162472"/>
            <a:ext cx="8045500" cy="3549104"/>
            <a:chOff x="0" y="0"/>
            <a:chExt cx="10727333" cy="47321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27309" cy="4732147"/>
            </a:xfrm>
            <a:custGeom>
              <a:avLst/>
              <a:gdLst/>
              <a:ahLst/>
              <a:cxnLst/>
              <a:rect l="l" t="t" r="r" b="b"/>
              <a:pathLst>
                <a:path w="10727309" h="4732147">
                  <a:moveTo>
                    <a:pt x="0" y="329565"/>
                  </a:moveTo>
                  <a:cubicBezTo>
                    <a:pt x="0" y="147574"/>
                    <a:pt x="147574" y="0"/>
                    <a:pt x="329565" y="0"/>
                  </a:cubicBezTo>
                  <a:lnTo>
                    <a:pt x="10397744" y="0"/>
                  </a:lnTo>
                  <a:cubicBezTo>
                    <a:pt x="10579735" y="0"/>
                    <a:pt x="10727309" y="147574"/>
                    <a:pt x="10727309" y="329565"/>
                  </a:cubicBezTo>
                  <a:lnTo>
                    <a:pt x="10727309" y="4402582"/>
                  </a:lnTo>
                  <a:cubicBezTo>
                    <a:pt x="10727309" y="4584573"/>
                    <a:pt x="10579735" y="4732147"/>
                    <a:pt x="10397744" y="4732147"/>
                  </a:cubicBezTo>
                  <a:lnTo>
                    <a:pt x="329565" y="4732147"/>
                  </a:lnTo>
                  <a:cubicBezTo>
                    <a:pt x="147574" y="4732147"/>
                    <a:pt x="0" y="4584573"/>
                    <a:pt x="0" y="4402582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235720" y="2437060"/>
            <a:ext cx="823764" cy="823764"/>
            <a:chOff x="0" y="0"/>
            <a:chExt cx="1098352" cy="10983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8296" cy="1098296"/>
            </a:xfrm>
            <a:custGeom>
              <a:avLst/>
              <a:gdLst/>
              <a:ahLst/>
              <a:cxnLst/>
              <a:rect l="l" t="t" r="r" b="b"/>
              <a:pathLst>
                <a:path w="1098296" h="1098296">
                  <a:moveTo>
                    <a:pt x="0" y="549148"/>
                  </a:moveTo>
                  <a:cubicBezTo>
                    <a:pt x="0" y="245872"/>
                    <a:pt x="245872" y="0"/>
                    <a:pt x="549148" y="0"/>
                  </a:cubicBezTo>
                  <a:cubicBezTo>
                    <a:pt x="852424" y="0"/>
                    <a:pt x="1098296" y="245872"/>
                    <a:pt x="1098296" y="549148"/>
                  </a:cubicBezTo>
                  <a:cubicBezTo>
                    <a:pt x="1098296" y="852424"/>
                    <a:pt x="852424" y="1098296"/>
                    <a:pt x="549148" y="1098296"/>
                  </a:cubicBezTo>
                  <a:cubicBezTo>
                    <a:pt x="245872" y="1098296"/>
                    <a:pt x="0" y="852424"/>
                    <a:pt x="0" y="549148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462236" y="2617291"/>
            <a:ext cx="370731" cy="463303"/>
            <a:chOff x="0" y="0"/>
            <a:chExt cx="494308" cy="617737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494284" cy="617728"/>
            </a:xfrm>
            <a:custGeom>
              <a:avLst/>
              <a:gdLst/>
              <a:ahLst/>
              <a:cxnLst/>
              <a:rect l="l" t="t" r="r" b="b"/>
              <a:pathLst>
                <a:path w="494284" h="617728">
                  <a:moveTo>
                    <a:pt x="0" y="0"/>
                  </a:moveTo>
                  <a:lnTo>
                    <a:pt x="494284" y="0"/>
                  </a:lnTo>
                  <a:lnTo>
                    <a:pt x="494284" y="617728"/>
                  </a:lnTo>
                  <a:lnTo>
                    <a:pt x="0" y="617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68" r="-4" b="-269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235720" y="3525887"/>
            <a:ext cx="7496324" cy="86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Clinicians → Better documentation, less ambiguity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5720" y="4463058"/>
            <a:ext cx="7496324" cy="39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Enhanced clinical record keeping with standardized coding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81220" y="2162472"/>
            <a:ext cx="8045649" cy="3549104"/>
            <a:chOff x="0" y="0"/>
            <a:chExt cx="10727532" cy="473213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727563" cy="4732147"/>
            </a:xfrm>
            <a:custGeom>
              <a:avLst/>
              <a:gdLst/>
              <a:ahLst/>
              <a:cxnLst/>
              <a:rect l="l" t="t" r="r" b="b"/>
              <a:pathLst>
                <a:path w="10727563" h="4732147">
                  <a:moveTo>
                    <a:pt x="0" y="329565"/>
                  </a:moveTo>
                  <a:cubicBezTo>
                    <a:pt x="0" y="147574"/>
                    <a:pt x="147574" y="0"/>
                    <a:pt x="329565" y="0"/>
                  </a:cubicBezTo>
                  <a:lnTo>
                    <a:pt x="10397998" y="0"/>
                  </a:lnTo>
                  <a:cubicBezTo>
                    <a:pt x="10579989" y="0"/>
                    <a:pt x="10727563" y="147574"/>
                    <a:pt x="10727563" y="329565"/>
                  </a:cubicBezTo>
                  <a:lnTo>
                    <a:pt x="10727563" y="4402582"/>
                  </a:lnTo>
                  <a:cubicBezTo>
                    <a:pt x="10727563" y="4584573"/>
                    <a:pt x="10579989" y="4732147"/>
                    <a:pt x="10397998" y="4732147"/>
                  </a:cubicBezTo>
                  <a:lnTo>
                    <a:pt x="329565" y="4732147"/>
                  </a:lnTo>
                  <a:cubicBezTo>
                    <a:pt x="147574" y="4732147"/>
                    <a:pt x="0" y="4584573"/>
                    <a:pt x="0" y="4402582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555808" y="2437060"/>
            <a:ext cx="823764" cy="823764"/>
            <a:chOff x="0" y="0"/>
            <a:chExt cx="1098352" cy="109835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8296" cy="1098296"/>
            </a:xfrm>
            <a:custGeom>
              <a:avLst/>
              <a:gdLst/>
              <a:ahLst/>
              <a:cxnLst/>
              <a:rect l="l" t="t" r="r" b="b"/>
              <a:pathLst>
                <a:path w="1098296" h="1098296">
                  <a:moveTo>
                    <a:pt x="0" y="549148"/>
                  </a:moveTo>
                  <a:cubicBezTo>
                    <a:pt x="0" y="245872"/>
                    <a:pt x="245872" y="0"/>
                    <a:pt x="549148" y="0"/>
                  </a:cubicBezTo>
                  <a:cubicBezTo>
                    <a:pt x="852424" y="0"/>
                    <a:pt x="1098296" y="245872"/>
                    <a:pt x="1098296" y="549148"/>
                  </a:cubicBezTo>
                  <a:cubicBezTo>
                    <a:pt x="1098296" y="852424"/>
                    <a:pt x="852424" y="1098296"/>
                    <a:pt x="549148" y="1098296"/>
                  </a:cubicBezTo>
                  <a:cubicBezTo>
                    <a:pt x="245872" y="1098296"/>
                    <a:pt x="0" y="852424"/>
                    <a:pt x="0" y="549148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9782324" y="2617291"/>
            <a:ext cx="370731" cy="463303"/>
            <a:chOff x="0" y="0"/>
            <a:chExt cx="494308" cy="617737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494284" cy="617728"/>
            </a:xfrm>
            <a:custGeom>
              <a:avLst/>
              <a:gdLst/>
              <a:ahLst/>
              <a:cxnLst/>
              <a:rect l="l" t="t" r="r" b="b"/>
              <a:pathLst>
                <a:path w="494284" h="617728">
                  <a:moveTo>
                    <a:pt x="0" y="0"/>
                  </a:moveTo>
                  <a:lnTo>
                    <a:pt x="494284" y="0"/>
                  </a:lnTo>
                  <a:lnTo>
                    <a:pt x="494284" y="617728"/>
                  </a:lnTo>
                  <a:lnTo>
                    <a:pt x="0" y="617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68" r="-4" b="-269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9555808" y="3525887"/>
            <a:ext cx="7496473" cy="86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Insurers → Streamlined claims, standardized coding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55808" y="4463058"/>
            <a:ext cx="7496473" cy="39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Efficient processing with unified coding standards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61132" y="5986165"/>
            <a:ext cx="8045500" cy="3549104"/>
            <a:chOff x="0" y="0"/>
            <a:chExt cx="10727333" cy="473213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27309" cy="4732147"/>
            </a:xfrm>
            <a:custGeom>
              <a:avLst/>
              <a:gdLst/>
              <a:ahLst/>
              <a:cxnLst/>
              <a:rect l="l" t="t" r="r" b="b"/>
              <a:pathLst>
                <a:path w="10727309" h="4732147">
                  <a:moveTo>
                    <a:pt x="0" y="329565"/>
                  </a:moveTo>
                  <a:cubicBezTo>
                    <a:pt x="0" y="147574"/>
                    <a:pt x="147574" y="0"/>
                    <a:pt x="329565" y="0"/>
                  </a:cubicBezTo>
                  <a:lnTo>
                    <a:pt x="10397744" y="0"/>
                  </a:lnTo>
                  <a:cubicBezTo>
                    <a:pt x="10579735" y="0"/>
                    <a:pt x="10727309" y="147574"/>
                    <a:pt x="10727309" y="329565"/>
                  </a:cubicBezTo>
                  <a:lnTo>
                    <a:pt x="10727309" y="4402582"/>
                  </a:lnTo>
                  <a:cubicBezTo>
                    <a:pt x="10727309" y="4584573"/>
                    <a:pt x="10579735" y="4732147"/>
                    <a:pt x="10397744" y="4732147"/>
                  </a:cubicBezTo>
                  <a:lnTo>
                    <a:pt x="329565" y="4732147"/>
                  </a:lnTo>
                  <a:cubicBezTo>
                    <a:pt x="147574" y="4732147"/>
                    <a:pt x="0" y="4584573"/>
                    <a:pt x="0" y="4402582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235720" y="6260752"/>
            <a:ext cx="823764" cy="823764"/>
            <a:chOff x="0" y="0"/>
            <a:chExt cx="1098352" cy="109835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8296" cy="1098296"/>
            </a:xfrm>
            <a:custGeom>
              <a:avLst/>
              <a:gdLst/>
              <a:ahLst/>
              <a:cxnLst/>
              <a:rect l="l" t="t" r="r" b="b"/>
              <a:pathLst>
                <a:path w="1098296" h="1098296">
                  <a:moveTo>
                    <a:pt x="0" y="549148"/>
                  </a:moveTo>
                  <a:cubicBezTo>
                    <a:pt x="0" y="245872"/>
                    <a:pt x="245872" y="0"/>
                    <a:pt x="549148" y="0"/>
                  </a:cubicBezTo>
                  <a:cubicBezTo>
                    <a:pt x="852424" y="0"/>
                    <a:pt x="1098296" y="245872"/>
                    <a:pt x="1098296" y="549148"/>
                  </a:cubicBezTo>
                  <a:cubicBezTo>
                    <a:pt x="1098296" y="852424"/>
                    <a:pt x="852424" y="1098296"/>
                    <a:pt x="549148" y="1098296"/>
                  </a:cubicBezTo>
                  <a:cubicBezTo>
                    <a:pt x="245872" y="1098296"/>
                    <a:pt x="0" y="852424"/>
                    <a:pt x="0" y="549148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462236" y="6440984"/>
            <a:ext cx="370731" cy="463303"/>
            <a:chOff x="0" y="0"/>
            <a:chExt cx="494308" cy="617737"/>
          </a:xfrm>
        </p:grpSpPr>
        <p:sp>
          <p:nvSpPr>
            <p:cNvPr id="28" name="Freeform 28" descr="preencoded.png"/>
            <p:cNvSpPr/>
            <p:nvPr/>
          </p:nvSpPr>
          <p:spPr>
            <a:xfrm>
              <a:off x="0" y="0"/>
              <a:ext cx="494284" cy="617728"/>
            </a:xfrm>
            <a:custGeom>
              <a:avLst/>
              <a:gdLst/>
              <a:ahLst/>
              <a:cxnLst/>
              <a:rect l="l" t="t" r="r" b="b"/>
              <a:pathLst>
                <a:path w="494284" h="617728">
                  <a:moveTo>
                    <a:pt x="0" y="0"/>
                  </a:moveTo>
                  <a:lnTo>
                    <a:pt x="494284" y="0"/>
                  </a:lnTo>
                  <a:lnTo>
                    <a:pt x="494284" y="617728"/>
                  </a:lnTo>
                  <a:lnTo>
                    <a:pt x="0" y="617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68" r="-4" b="-269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235720" y="7349579"/>
            <a:ext cx="7496324" cy="86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Policy Makers → Harmonized analytics, global comparability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5720" y="8286750"/>
            <a:ext cx="7496324" cy="39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Comprehensive data insights for informed decision-making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281220" y="5986165"/>
            <a:ext cx="8045649" cy="3549104"/>
            <a:chOff x="0" y="0"/>
            <a:chExt cx="10727532" cy="473213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727563" cy="4732147"/>
            </a:xfrm>
            <a:custGeom>
              <a:avLst/>
              <a:gdLst/>
              <a:ahLst/>
              <a:cxnLst/>
              <a:rect l="l" t="t" r="r" b="b"/>
              <a:pathLst>
                <a:path w="10727563" h="4732147">
                  <a:moveTo>
                    <a:pt x="0" y="329565"/>
                  </a:moveTo>
                  <a:cubicBezTo>
                    <a:pt x="0" y="147574"/>
                    <a:pt x="147574" y="0"/>
                    <a:pt x="329565" y="0"/>
                  </a:cubicBezTo>
                  <a:lnTo>
                    <a:pt x="10397998" y="0"/>
                  </a:lnTo>
                  <a:cubicBezTo>
                    <a:pt x="10579989" y="0"/>
                    <a:pt x="10727563" y="147574"/>
                    <a:pt x="10727563" y="329565"/>
                  </a:cubicBezTo>
                  <a:lnTo>
                    <a:pt x="10727563" y="4402582"/>
                  </a:lnTo>
                  <a:cubicBezTo>
                    <a:pt x="10727563" y="4584573"/>
                    <a:pt x="10579989" y="4732147"/>
                    <a:pt x="10397998" y="4732147"/>
                  </a:cubicBezTo>
                  <a:lnTo>
                    <a:pt x="329565" y="4732147"/>
                  </a:lnTo>
                  <a:cubicBezTo>
                    <a:pt x="147574" y="4732147"/>
                    <a:pt x="0" y="4584573"/>
                    <a:pt x="0" y="4402582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9555808" y="6260752"/>
            <a:ext cx="823764" cy="823764"/>
            <a:chOff x="0" y="0"/>
            <a:chExt cx="1098352" cy="10983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98296" cy="1098296"/>
            </a:xfrm>
            <a:custGeom>
              <a:avLst/>
              <a:gdLst/>
              <a:ahLst/>
              <a:cxnLst/>
              <a:rect l="l" t="t" r="r" b="b"/>
              <a:pathLst>
                <a:path w="1098296" h="1098296">
                  <a:moveTo>
                    <a:pt x="0" y="549148"/>
                  </a:moveTo>
                  <a:cubicBezTo>
                    <a:pt x="0" y="245872"/>
                    <a:pt x="245872" y="0"/>
                    <a:pt x="549148" y="0"/>
                  </a:cubicBezTo>
                  <a:cubicBezTo>
                    <a:pt x="852424" y="0"/>
                    <a:pt x="1098296" y="245872"/>
                    <a:pt x="1098296" y="549148"/>
                  </a:cubicBezTo>
                  <a:cubicBezTo>
                    <a:pt x="1098296" y="852424"/>
                    <a:pt x="852424" y="1098296"/>
                    <a:pt x="549148" y="1098296"/>
                  </a:cubicBezTo>
                  <a:cubicBezTo>
                    <a:pt x="245872" y="1098296"/>
                    <a:pt x="0" y="852424"/>
                    <a:pt x="0" y="549148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9782324" y="6440984"/>
            <a:ext cx="370731" cy="463303"/>
            <a:chOff x="0" y="0"/>
            <a:chExt cx="494308" cy="617737"/>
          </a:xfrm>
        </p:grpSpPr>
        <p:sp>
          <p:nvSpPr>
            <p:cNvPr id="36" name="Freeform 36" descr="preencoded.png"/>
            <p:cNvSpPr/>
            <p:nvPr/>
          </p:nvSpPr>
          <p:spPr>
            <a:xfrm>
              <a:off x="0" y="0"/>
              <a:ext cx="494284" cy="617728"/>
            </a:xfrm>
            <a:custGeom>
              <a:avLst/>
              <a:gdLst/>
              <a:ahLst/>
              <a:cxnLst/>
              <a:rect l="l" t="t" r="r" b="b"/>
              <a:pathLst>
                <a:path w="494284" h="617728">
                  <a:moveTo>
                    <a:pt x="0" y="0"/>
                  </a:moveTo>
                  <a:lnTo>
                    <a:pt x="494284" y="0"/>
                  </a:lnTo>
                  <a:lnTo>
                    <a:pt x="494284" y="617728"/>
                  </a:lnTo>
                  <a:lnTo>
                    <a:pt x="0" y="617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68" r="-4" b="-269"/>
              </a:stretch>
            </a:blipFill>
          </p:spPr>
        </p:sp>
      </p:grpSp>
      <p:sp>
        <p:nvSpPr>
          <p:cNvPr id="37" name="TextBox 37"/>
          <p:cNvSpPr txBox="1"/>
          <p:nvPr/>
        </p:nvSpPr>
        <p:spPr>
          <a:xfrm>
            <a:off x="9555808" y="7349579"/>
            <a:ext cx="7496473" cy="86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Patients → Unified, transparent, patient-centric records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55808" y="8286750"/>
            <a:ext cx="7496473" cy="835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Integrated healthcare documentation across all treatment modalities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058912"/>
            <a:ext cx="8844558" cy="90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Standards &amp; Compliance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2956172"/>
            <a:ext cx="8009930" cy="2993529"/>
            <a:chOff x="0" y="0"/>
            <a:chExt cx="10679907" cy="39913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79938" cy="3991356"/>
            </a:xfrm>
            <a:custGeom>
              <a:avLst/>
              <a:gdLst/>
              <a:ahLst/>
              <a:cxnLst/>
              <a:rect l="l" t="t" r="r" b="b"/>
              <a:pathLst>
                <a:path w="10679938" h="3991356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747516"/>
                  </a:lnTo>
                  <a:cubicBezTo>
                    <a:pt x="10679938" y="3882136"/>
                    <a:pt x="10570718" y="3991356"/>
                    <a:pt x="10436098" y="3991356"/>
                  </a:cubicBezTo>
                  <a:lnTo>
                    <a:pt x="243840" y="3991356"/>
                  </a:lnTo>
                  <a:cubicBezTo>
                    <a:pt x="109220" y="3991356"/>
                    <a:pt x="0" y="3882136"/>
                    <a:pt x="0" y="3747516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92238" y="2918072"/>
            <a:ext cx="8009930" cy="152400"/>
            <a:chOff x="0" y="0"/>
            <a:chExt cx="10679907" cy="203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79938" cy="203200"/>
            </a:xfrm>
            <a:custGeom>
              <a:avLst/>
              <a:gdLst/>
              <a:ahLst/>
              <a:cxnLst/>
              <a:rect l="l" t="t" r="r" b="b"/>
              <a:pathLst>
                <a:path w="10679938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578338" y="0"/>
                  </a:lnTo>
                  <a:cubicBezTo>
                    <a:pt x="10634472" y="0"/>
                    <a:pt x="10679938" y="45466"/>
                    <a:pt x="10679938" y="101600"/>
                  </a:cubicBezTo>
                  <a:cubicBezTo>
                    <a:pt x="10679938" y="157734"/>
                    <a:pt x="10634472" y="203200"/>
                    <a:pt x="10578338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4571925" y="2530971"/>
            <a:ext cx="850553" cy="850552"/>
            <a:chOff x="0" y="0"/>
            <a:chExt cx="1134070" cy="11340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827018" y="2743646"/>
            <a:ext cx="340221" cy="425203"/>
            <a:chOff x="0" y="0"/>
            <a:chExt cx="453628" cy="566937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453644" cy="566928"/>
            </a:xfrm>
            <a:custGeom>
              <a:avLst/>
              <a:gdLst/>
              <a:ahLst/>
              <a:cxnLst/>
              <a:rect l="l" t="t" r="r" b="b"/>
              <a:pathLst>
                <a:path w="453644" h="566928">
                  <a:moveTo>
                    <a:pt x="0" y="0"/>
                  </a:moveTo>
                  <a:lnTo>
                    <a:pt x="453644" y="0"/>
                  </a:lnTo>
                  <a:lnTo>
                    <a:pt x="45364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" r="3" b="-10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313855" y="3655367"/>
            <a:ext cx="736669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FHIR R4 – mandatory under EHR Standards of India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3855" y="4616054"/>
            <a:ext cx="7366695" cy="892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 panose="020B0604020202020204" charset="0"/>
                <a:cs typeface="Times New Roman" panose="02020603050405020304" pitchFamily="18" charset="0"/>
                <a:sym typeface="Arimo"/>
              </a:rPr>
              <a:t>Full compliance with national electronic health record requirements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85685" y="2956172"/>
            <a:ext cx="8010079" cy="2993529"/>
            <a:chOff x="0" y="0"/>
            <a:chExt cx="10680105" cy="39913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80065" cy="3991356"/>
            </a:xfrm>
            <a:custGeom>
              <a:avLst/>
              <a:gdLst/>
              <a:ahLst/>
              <a:cxnLst/>
              <a:rect l="l" t="t" r="r" b="b"/>
              <a:pathLst>
                <a:path w="10680065" h="3991356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225" y="0"/>
                  </a:lnTo>
                  <a:cubicBezTo>
                    <a:pt x="10570845" y="0"/>
                    <a:pt x="10680065" y="109220"/>
                    <a:pt x="10680065" y="243840"/>
                  </a:cubicBezTo>
                  <a:lnTo>
                    <a:pt x="10680065" y="3747516"/>
                  </a:lnTo>
                  <a:cubicBezTo>
                    <a:pt x="10680065" y="3882136"/>
                    <a:pt x="10570845" y="3991356"/>
                    <a:pt x="10436225" y="3991356"/>
                  </a:cubicBezTo>
                  <a:lnTo>
                    <a:pt x="243840" y="3991356"/>
                  </a:lnTo>
                  <a:cubicBezTo>
                    <a:pt x="109220" y="3991356"/>
                    <a:pt x="0" y="3882136"/>
                    <a:pt x="0" y="3747516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285685" y="2918072"/>
            <a:ext cx="8010079" cy="152400"/>
            <a:chOff x="0" y="0"/>
            <a:chExt cx="10680105" cy="203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80065" cy="203200"/>
            </a:xfrm>
            <a:custGeom>
              <a:avLst/>
              <a:gdLst/>
              <a:ahLst/>
              <a:cxnLst/>
              <a:rect l="l" t="t" r="r" b="b"/>
              <a:pathLst>
                <a:path w="10680065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578465" y="0"/>
                  </a:lnTo>
                  <a:cubicBezTo>
                    <a:pt x="10634599" y="0"/>
                    <a:pt x="10680065" y="45466"/>
                    <a:pt x="10680065" y="101600"/>
                  </a:cubicBezTo>
                  <a:cubicBezTo>
                    <a:pt x="10680065" y="157734"/>
                    <a:pt x="10634599" y="203200"/>
                    <a:pt x="10578465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2865372" y="2530971"/>
            <a:ext cx="850553" cy="850552"/>
            <a:chOff x="0" y="0"/>
            <a:chExt cx="1134070" cy="113407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3120464" y="2743646"/>
            <a:ext cx="340221" cy="425203"/>
            <a:chOff x="0" y="0"/>
            <a:chExt cx="453628" cy="566937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453644" cy="566928"/>
            </a:xfrm>
            <a:custGeom>
              <a:avLst/>
              <a:gdLst/>
              <a:ahLst/>
              <a:cxnLst/>
              <a:rect l="l" t="t" r="r" b="b"/>
              <a:pathLst>
                <a:path w="453644" h="566928">
                  <a:moveTo>
                    <a:pt x="0" y="0"/>
                  </a:moveTo>
                  <a:lnTo>
                    <a:pt x="453644" y="0"/>
                  </a:lnTo>
                  <a:lnTo>
                    <a:pt x="45364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" r="3" b="-10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9607302" y="3655367"/>
            <a:ext cx="7366844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SNOMED/LOINC – semantic interoperability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07302" y="4616054"/>
            <a:ext cx="7366844" cy="87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Enhanced data exchange through standardized medical terminology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92238" y="6658421"/>
            <a:ext cx="8009930" cy="2550616"/>
            <a:chOff x="0" y="0"/>
            <a:chExt cx="10679907" cy="340082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679938" cy="3400806"/>
            </a:xfrm>
            <a:custGeom>
              <a:avLst/>
              <a:gdLst/>
              <a:ahLst/>
              <a:cxnLst/>
              <a:rect l="l" t="t" r="r" b="b"/>
              <a:pathLst>
                <a:path w="10679938" h="3400806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156966"/>
                  </a:lnTo>
                  <a:cubicBezTo>
                    <a:pt x="10679938" y="3291586"/>
                    <a:pt x="10570718" y="3400806"/>
                    <a:pt x="10436098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92238" y="6620321"/>
            <a:ext cx="8009930" cy="152400"/>
            <a:chOff x="0" y="0"/>
            <a:chExt cx="10679907" cy="203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679938" cy="203200"/>
            </a:xfrm>
            <a:custGeom>
              <a:avLst/>
              <a:gdLst/>
              <a:ahLst/>
              <a:cxnLst/>
              <a:rect l="l" t="t" r="r" b="b"/>
              <a:pathLst>
                <a:path w="10679938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578338" y="0"/>
                  </a:lnTo>
                  <a:cubicBezTo>
                    <a:pt x="10634472" y="0"/>
                    <a:pt x="10679938" y="45466"/>
                    <a:pt x="10679938" y="101600"/>
                  </a:cubicBezTo>
                  <a:cubicBezTo>
                    <a:pt x="10679938" y="157734"/>
                    <a:pt x="10634472" y="203200"/>
                    <a:pt x="10578338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4571925" y="6233220"/>
            <a:ext cx="850553" cy="850552"/>
            <a:chOff x="0" y="0"/>
            <a:chExt cx="1134070" cy="113407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33" name="Group 33"/>
          <p:cNvGrpSpPr>
            <a:grpSpLocks noChangeAspect="1"/>
          </p:cNvGrpSpPr>
          <p:nvPr/>
        </p:nvGrpSpPr>
        <p:grpSpPr>
          <a:xfrm>
            <a:off x="4827018" y="6445895"/>
            <a:ext cx="340221" cy="425203"/>
            <a:chOff x="0" y="0"/>
            <a:chExt cx="453628" cy="566937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453644" cy="566928"/>
            </a:xfrm>
            <a:custGeom>
              <a:avLst/>
              <a:gdLst/>
              <a:ahLst/>
              <a:cxnLst/>
              <a:rect l="l" t="t" r="r" b="b"/>
              <a:pathLst>
                <a:path w="453644" h="566928">
                  <a:moveTo>
                    <a:pt x="0" y="0"/>
                  </a:moveTo>
                  <a:lnTo>
                    <a:pt x="453644" y="0"/>
                  </a:lnTo>
                  <a:lnTo>
                    <a:pt x="45364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" r="3" b="-10"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1313855" y="7357616"/>
            <a:ext cx="613663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ISO 22600 – consent management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13855" y="7875389"/>
            <a:ext cx="7366695" cy="88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International standards for healthcare data privacy and consent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285685" y="6658421"/>
            <a:ext cx="8010079" cy="2550616"/>
            <a:chOff x="0" y="0"/>
            <a:chExt cx="10680105" cy="340082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680065" cy="3400806"/>
            </a:xfrm>
            <a:custGeom>
              <a:avLst/>
              <a:gdLst/>
              <a:ahLst/>
              <a:cxnLst/>
              <a:rect l="l" t="t" r="r" b="b"/>
              <a:pathLst>
                <a:path w="10680065" h="3400806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225" y="0"/>
                  </a:lnTo>
                  <a:cubicBezTo>
                    <a:pt x="10570845" y="0"/>
                    <a:pt x="10680065" y="109220"/>
                    <a:pt x="10680065" y="243840"/>
                  </a:cubicBezTo>
                  <a:lnTo>
                    <a:pt x="10680065" y="3156966"/>
                  </a:lnTo>
                  <a:cubicBezTo>
                    <a:pt x="10680065" y="3291586"/>
                    <a:pt x="10570845" y="3400806"/>
                    <a:pt x="10436225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9285685" y="6620321"/>
            <a:ext cx="8010079" cy="152400"/>
            <a:chOff x="0" y="0"/>
            <a:chExt cx="10680105" cy="203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680065" cy="203200"/>
            </a:xfrm>
            <a:custGeom>
              <a:avLst/>
              <a:gdLst/>
              <a:ahLst/>
              <a:cxnLst/>
              <a:rect l="l" t="t" r="r" b="b"/>
              <a:pathLst>
                <a:path w="10680065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578465" y="0"/>
                  </a:lnTo>
                  <a:cubicBezTo>
                    <a:pt x="10634599" y="0"/>
                    <a:pt x="10680065" y="45466"/>
                    <a:pt x="10680065" y="101600"/>
                  </a:cubicBezTo>
                  <a:cubicBezTo>
                    <a:pt x="10680065" y="157734"/>
                    <a:pt x="10634599" y="203200"/>
                    <a:pt x="10578465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2865372" y="6233220"/>
            <a:ext cx="850553" cy="850552"/>
            <a:chOff x="0" y="0"/>
            <a:chExt cx="1134070" cy="113407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43" name="Group 43"/>
          <p:cNvGrpSpPr>
            <a:grpSpLocks noChangeAspect="1"/>
          </p:cNvGrpSpPr>
          <p:nvPr/>
        </p:nvGrpSpPr>
        <p:grpSpPr>
          <a:xfrm>
            <a:off x="13120464" y="6445895"/>
            <a:ext cx="340221" cy="425203"/>
            <a:chOff x="0" y="0"/>
            <a:chExt cx="453628" cy="566937"/>
          </a:xfrm>
        </p:grpSpPr>
        <p:sp>
          <p:nvSpPr>
            <p:cNvPr id="44" name="Freeform 44" descr="preencoded.png"/>
            <p:cNvSpPr/>
            <p:nvPr/>
          </p:nvSpPr>
          <p:spPr>
            <a:xfrm>
              <a:off x="0" y="0"/>
              <a:ext cx="453644" cy="566928"/>
            </a:xfrm>
            <a:custGeom>
              <a:avLst/>
              <a:gdLst/>
              <a:ahLst/>
              <a:cxnLst/>
              <a:rect l="l" t="t" r="r" b="b"/>
              <a:pathLst>
                <a:path w="453644" h="566928">
                  <a:moveTo>
                    <a:pt x="0" y="0"/>
                  </a:moveTo>
                  <a:lnTo>
                    <a:pt x="453644" y="0"/>
                  </a:lnTo>
                  <a:lnTo>
                    <a:pt x="45364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8" r="3" b="-10"/>
              </a:stretch>
            </a:blipFill>
          </p:spPr>
        </p:sp>
      </p:grpSp>
      <p:sp>
        <p:nvSpPr>
          <p:cNvPr id="45" name="TextBox 45"/>
          <p:cNvSpPr txBox="1"/>
          <p:nvPr/>
        </p:nvSpPr>
        <p:spPr>
          <a:xfrm>
            <a:off x="9607302" y="7357616"/>
            <a:ext cx="6107162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WHO ICD API – global integration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607302" y="7875389"/>
            <a:ext cx="7366844" cy="88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Seamless connection with World Health Organization standards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18288000" cy="2947690"/>
            <a:chOff x="0" y="0"/>
            <a:chExt cx="24384000" cy="3930253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3930269"/>
            </a:xfrm>
            <a:custGeom>
              <a:avLst/>
              <a:gdLst/>
              <a:ahLst/>
              <a:cxnLst/>
              <a:rect l="l" t="t" r="r" b="b"/>
              <a:pathLst>
                <a:path w="24384000" h="3930269">
                  <a:moveTo>
                    <a:pt x="0" y="0"/>
                  </a:moveTo>
                  <a:lnTo>
                    <a:pt x="24384000" y="0"/>
                  </a:lnTo>
                  <a:lnTo>
                    <a:pt x="24384000" y="3930269"/>
                  </a:lnTo>
                  <a:lnTo>
                    <a:pt x="0" y="3930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25252" y="3577084"/>
            <a:ext cx="6008042" cy="755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625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Impact &amp; Next Steps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5252" y="4912816"/>
            <a:ext cx="3537348" cy="451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38951"/>
                </a:solidFill>
                <a:latin typeface="Fraunces Bold"/>
                <a:ea typeface="Fraunces Bold"/>
                <a:cs typeface="Fraunces Bold"/>
                <a:sym typeface="Fraunces Bold"/>
              </a:rPr>
              <a:t>Impact: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5252" y="5505004"/>
            <a:ext cx="8031064" cy="35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AYUSH integration into mainstream digital health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5252" y="5964882"/>
            <a:ext cx="8031064" cy="722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400" i="1" dirty="0">
                <a:solidFill>
                  <a:srgbClr val="405449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Strengthens India's National Digital Health Mission (NDHM) vision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41210" y="4912816"/>
            <a:ext cx="3537347" cy="451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644E"/>
                </a:solidFill>
                <a:latin typeface="Fraunces Bold"/>
                <a:ea typeface="Fraunces Bold"/>
                <a:cs typeface="Fraunces Bold"/>
                <a:sym typeface="Fraunces Bold"/>
              </a:rPr>
              <a:t>Next Steps: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41210" y="5553521"/>
            <a:ext cx="388590" cy="3365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 dirty="0">
                <a:solidFill>
                  <a:srgbClr val="405449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01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441210" y="6001791"/>
            <a:ext cx="8031064" cy="28575"/>
            <a:chOff x="0" y="0"/>
            <a:chExt cx="10708085" cy="38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08132" cy="38100"/>
            </a:xfrm>
            <a:custGeom>
              <a:avLst/>
              <a:gdLst/>
              <a:ahLst/>
              <a:cxnLst/>
              <a:rect l="l" t="t" r="r" b="b"/>
              <a:pathLst>
                <a:path w="10708132" h="38100">
                  <a:moveTo>
                    <a:pt x="0" y="0"/>
                  </a:moveTo>
                  <a:lnTo>
                    <a:pt x="10708132" y="0"/>
                  </a:lnTo>
                  <a:lnTo>
                    <a:pt x="1070813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9441210" y="6167289"/>
            <a:ext cx="3529756" cy="378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Prototype microservice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41210" y="6881664"/>
            <a:ext cx="388590" cy="3365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 dirty="0">
                <a:solidFill>
                  <a:srgbClr val="405449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02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441210" y="7329934"/>
            <a:ext cx="8031064" cy="28575"/>
            <a:chOff x="0" y="0"/>
            <a:chExt cx="10708085" cy="381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08132" cy="38100"/>
            </a:xfrm>
            <a:custGeom>
              <a:avLst/>
              <a:gdLst/>
              <a:ahLst/>
              <a:cxnLst/>
              <a:rect l="l" t="t" r="r" b="b"/>
              <a:pathLst>
                <a:path w="10708132" h="38100">
                  <a:moveTo>
                    <a:pt x="0" y="0"/>
                  </a:moveTo>
                  <a:lnTo>
                    <a:pt x="10708132" y="0"/>
                  </a:lnTo>
                  <a:lnTo>
                    <a:pt x="1070813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9441210" y="7495431"/>
            <a:ext cx="3163044" cy="378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API &amp; frontend demo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41210" y="8209806"/>
            <a:ext cx="312390" cy="3365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 dirty="0">
                <a:solidFill>
                  <a:srgbClr val="405449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03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441210" y="8658076"/>
            <a:ext cx="8031064" cy="28575"/>
            <a:chOff x="0" y="0"/>
            <a:chExt cx="10708085" cy="38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708132" cy="38100"/>
            </a:xfrm>
            <a:custGeom>
              <a:avLst/>
              <a:gdLst/>
              <a:ahLst/>
              <a:cxnLst/>
              <a:rect l="l" t="t" r="r" b="b"/>
              <a:pathLst>
                <a:path w="10708132" h="38100">
                  <a:moveTo>
                    <a:pt x="0" y="0"/>
                  </a:moveTo>
                  <a:lnTo>
                    <a:pt x="10708132" y="0"/>
                  </a:lnTo>
                  <a:lnTo>
                    <a:pt x="1070813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9441210" y="8823573"/>
            <a:ext cx="6404074" cy="378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Pilot with partner AYUSH hospital/insurer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ustomShape 10">
            <a:extLst>
              <a:ext uri="{FF2B5EF4-FFF2-40B4-BE49-F238E27FC236}">
                <a16:creationId xmlns:a16="http://schemas.microsoft.com/office/drawing/2014/main" id="{DB9AA7E3-F3F2-CBA9-3720-A1D90CF4998E}"/>
              </a:ext>
            </a:extLst>
          </p:cNvPr>
          <p:cNvSpPr/>
          <p:nvPr/>
        </p:nvSpPr>
        <p:spPr>
          <a:xfrm>
            <a:off x="474960" y="5616046"/>
            <a:ext cx="15908040" cy="2814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9700" b="1" strike="noStrike" spc="-1" dirty="0">
                <a:solidFill>
                  <a:schemeClr val="accent3"/>
                </a:solidFill>
                <a:latin typeface="Times New Roman"/>
                <a:ea typeface="DejaVu Sans"/>
              </a:rPr>
              <a:t>					THANK  YOU</a:t>
            </a:r>
            <a:endParaRPr lang="en-IN" sz="9700" b="0" strike="noStrike" spc="-1" dirty="0">
              <a:solidFill>
                <a:schemeClr val="accent3"/>
              </a:solidFill>
              <a:latin typeface="Arial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17C7677-D4FE-AD6D-7744-A71B57DD6AB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962400" y="2000940"/>
            <a:ext cx="10363200" cy="3636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2519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619</Words>
  <Application>Microsoft Office PowerPoint</Application>
  <PresentationFormat>Custom</PresentationFormat>
  <Paragraphs>144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Fraunces Bold</vt:lpstr>
      <vt:lpstr>Times New Roman</vt:lpstr>
      <vt:lpstr>Arimo</vt:lpstr>
      <vt:lpstr>Calibri</vt:lpstr>
      <vt:lpstr>Arial</vt:lpstr>
      <vt:lpstr>Fraunces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A.pptx</dc:title>
  <dc:creator>MD ARIF UL ISLAM</dc:creator>
  <cp:lastModifiedBy>MD ARIF UL ISLAM</cp:lastModifiedBy>
  <cp:revision>14</cp:revision>
  <dcterms:created xsi:type="dcterms:W3CDTF">2006-08-16T00:00:00Z</dcterms:created>
  <dcterms:modified xsi:type="dcterms:W3CDTF">2025-09-16T04:45:49Z</dcterms:modified>
  <dc:identifier>DAGzC-QTFAk</dc:identifier>
</cp:coreProperties>
</file>